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embeddedFontLst>
    <p:embeddedFont>
      <p:font typeface="Consolas" panose="020B0609020204030204" pitchFamily="49" charset="0"/>
      <p:regular r:id="rId12"/>
      <p:bold r:id="rId13"/>
      <p:italic r:id="rId14"/>
      <p:boldItalic r:id="rId15"/>
    </p:embeddedFont>
    <p:embeddedFont>
      <p:font typeface="Geist" panose="020B0604020202020204" charset="0"/>
      <p:regular r:id="rId16"/>
    </p:embeddedFont>
    <p:embeddedFont>
      <p:font typeface="Geist Bold" panose="020B0604020202020204" charset="0"/>
      <p:regular r:id="rId17"/>
    </p:embeddedFont>
    <p:embeddedFont>
      <p:font typeface="Geist Medium" panose="020B0604020202020204" charset="0"/>
      <p:regular r:id="rId18"/>
    </p:embeddedFont>
    <p:embeddedFont>
      <p:font typeface="Geist Mono" panose="020B0604020202020204" charset="0"/>
      <p:regular r:id="rId19"/>
    </p:embeddedFont>
    <p:embeddedFont>
      <p:font typeface="Geist Mono Medium" panose="020B0604020202020204" charset="0"/>
      <p:regular r:id="rId20"/>
    </p:embeddedFont>
    <p:embeddedFont>
      <p:font typeface="Geist SemiBold" panose="020B0604020202020204" charset="0"/>
      <p:regular r:id="rId2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572550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faculty and evaluators. We present IndicSearch, a keyword-based search engine designed specifically for Indian-language Wikipedia content. The core objective of this project is demonstrating how fundamental data structures and algorithms—including HashMaps, Inverted Indexes, Tries, and Merge Sort—solve real-world challenges in multilingual information retrieval.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abstract highlights our architectural pipeline. We couple high-level Wikipedia API document retrieval with core algorithmic components: Trie-based prefix completion, Inverted Index mapping, and Merge Sort ranking by keyword frequency, all wrapped in a clean web interface.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formalize the problem. Scanning documents linearly is computationally impractical. Furthermore, Indian languages require precise Unicode handling so matras and compound glyphs tokenize accurately. Our project addresses these challenges directly using foundational computer science data structures.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grid outlines the eight functional modules. Key highlights include our dedicated text preprocessing engine for Indian script tokens, the dual search and autocomplete flow, and transparent diagnostic metrics displayed directly in the web UI for evaluation.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summarizes our eight project objectives across four categories: Core system, Language handling, Indexing &amp; UX, and Evaluation. Each objective directly correlates with an implemented algorithm or software module presented today.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architectural diagram illustrates the runtime flow. The main sequence covers keyword entry, language selection, text preprocessing, document retrieval, indexing, scoring, ranking, and results. The Trie side-flow provides search suggestions.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IndicSearch accomplishes all stated project goals, verifying how textbook DSA techniques successfully underpin real-world multilingual search applications. In future iterations, we look forward to incorporating local corpus indexing, TF-IDF weighting, and LRU caching.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EF4F5"/>
          </a:solidFill>
          <a:ln/>
        </p:spPr>
      </p:sp>
      <p:sp>
        <p:nvSpPr>
          <p:cNvPr id="3" name="Shape 1"/>
          <p:cNvSpPr/>
          <p:nvPr/>
        </p:nvSpPr>
        <p:spPr>
          <a:xfrm>
            <a:off x="0" y="0"/>
            <a:ext cx="12191695" cy="6858000"/>
          </a:xfrm>
          <a:prstGeom prst="rect">
            <a:avLst/>
          </a:prstGeom>
          <a:solidFill>
            <a:srgbClr val="F7FAFB"/>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4.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09585" y="609600"/>
            <a:ext cx="6654634" cy="1709738"/>
          </a:xfrm>
          <a:prstGeom prst="rect">
            <a:avLst/>
          </a:prstGeom>
          <a:noFill/>
          <a:ln/>
        </p:spPr>
        <p:txBody>
          <a:bodyPr wrap="square" lIns="0" tIns="0" rIns="0" bIns="0" rtlCol="0" anchor="t">
            <a:normAutofit lnSpcReduction="10000"/>
          </a:bodyPr>
          <a:lstStyle/>
          <a:p>
            <a:pPr marL="0" indent="0" algn="l">
              <a:lnSpc>
                <a:spcPct val="85000"/>
              </a:lnSpc>
              <a:buNone/>
            </a:pPr>
            <a:r>
              <a:rPr lang="en-US" sz="4400" kern="0" spc="-132" dirty="0">
                <a:solidFill>
                  <a:srgbClr val="0F1E26"/>
                </a:solidFill>
                <a:latin typeface="Geist Medium" pitchFamily="34" charset="0"/>
                <a:ea typeface="Geist Medium" pitchFamily="34" charset="-122"/>
                <a:cs typeface="Geist Medium" pitchFamily="34" charset="-120"/>
              </a:rPr>
              <a:t>IndicSearch: An Efficient Keyword-Based Search Engine</a:t>
            </a:r>
            <a:endParaRPr lang="en-US" sz="4400" dirty="0"/>
          </a:p>
        </p:txBody>
      </p:sp>
      <p:sp>
        <p:nvSpPr>
          <p:cNvPr id="3" name="Text 1"/>
          <p:cNvSpPr/>
          <p:nvPr/>
        </p:nvSpPr>
        <p:spPr>
          <a:xfrm>
            <a:off x="609585" y="2497138"/>
            <a:ext cx="6654634" cy="626070"/>
          </a:xfrm>
          <a:prstGeom prst="rect">
            <a:avLst/>
          </a:prstGeom>
          <a:noFill/>
          <a:ln/>
        </p:spPr>
        <p:txBody>
          <a:bodyPr wrap="square" lIns="0" tIns="0" rIns="0" bIns="0" rtlCol="0" anchor="t">
            <a:normAutofit/>
          </a:bodyPr>
          <a:lstStyle/>
          <a:p>
            <a:pPr marL="0" indent="0" algn="l">
              <a:lnSpc>
                <a:spcPct val="121000"/>
              </a:lnSpc>
              <a:buNone/>
            </a:pPr>
            <a:r>
              <a:rPr lang="en-US" sz="1700" dirty="0">
                <a:solidFill>
                  <a:srgbClr val="2A3A43"/>
                </a:solidFill>
                <a:latin typeface="Geist" pitchFamily="34" charset="0"/>
                <a:ea typeface="Geist" pitchFamily="34" charset="-122"/>
                <a:cs typeface="Geist" pitchFamily="34" charset="-120"/>
              </a:rPr>
              <a:t>A DSA-driven search system for Indian-language Wikipedia with Unicode processing and ranked retrieval.</a:t>
            </a:r>
            <a:endParaRPr lang="en-US" sz="1700" dirty="0"/>
          </a:p>
        </p:txBody>
      </p:sp>
      <p:sp>
        <p:nvSpPr>
          <p:cNvPr id="4" name="Shape 2"/>
          <p:cNvSpPr/>
          <p:nvPr/>
        </p:nvSpPr>
        <p:spPr>
          <a:xfrm>
            <a:off x="609585" y="3326408"/>
            <a:ext cx="2195854" cy="19050"/>
          </a:xfrm>
          <a:prstGeom prst="roundRect">
            <a:avLst>
              <a:gd name="adj" fmla="val 49999"/>
            </a:avLst>
          </a:prstGeom>
          <a:solidFill>
            <a:srgbClr val="C9D6DB"/>
          </a:solidFill>
          <a:ln/>
        </p:spPr>
      </p:sp>
      <p:sp>
        <p:nvSpPr>
          <p:cNvPr id="5" name="Text 3"/>
          <p:cNvSpPr/>
          <p:nvPr/>
        </p:nvSpPr>
        <p:spPr>
          <a:xfrm>
            <a:off x="609585" y="3567708"/>
            <a:ext cx="7111822" cy="181570"/>
          </a:xfrm>
          <a:prstGeom prst="rect">
            <a:avLst/>
          </a:prstGeom>
          <a:noFill/>
          <a:ln/>
        </p:spPr>
        <p:txBody>
          <a:bodyPr wrap="none" lIns="0" tIns="0" rIns="0" bIns="0" rtlCol="0" anchor="t"/>
          <a:lstStyle/>
          <a:p>
            <a:pPr marL="0" indent="0" algn="l">
              <a:lnSpc>
                <a:spcPct val="108000"/>
              </a:lnSpc>
              <a:buNone/>
            </a:pPr>
            <a:r>
              <a:rPr lang="en-US" sz="1100" kern="0" spc="88" dirty="0">
                <a:solidFill>
                  <a:srgbClr val="55656E"/>
                </a:solidFill>
                <a:latin typeface="Geist Mono Medium" pitchFamily="34" charset="0"/>
                <a:ea typeface="Geist Mono Medium" pitchFamily="34" charset="-122"/>
                <a:cs typeface="Geist Mono Medium" pitchFamily="34" charset="-120"/>
              </a:rPr>
              <a:t>PROJECT TEAM</a:t>
            </a:r>
            <a:endParaRPr lang="en-US" sz="1100" dirty="0"/>
          </a:p>
        </p:txBody>
      </p:sp>
      <p:sp>
        <p:nvSpPr>
          <p:cNvPr id="6" name="Text 4"/>
          <p:cNvSpPr/>
          <p:nvPr/>
        </p:nvSpPr>
        <p:spPr>
          <a:xfrm>
            <a:off x="609585" y="3908028"/>
            <a:ext cx="6654634" cy="862211"/>
          </a:xfrm>
          <a:prstGeom prst="rect">
            <a:avLst/>
          </a:prstGeom>
          <a:noFill/>
          <a:ln/>
        </p:spPr>
        <p:txBody>
          <a:bodyPr wrap="square" lIns="0" tIns="0" rIns="0" bIns="0" rtlCol="0" anchor="t">
            <a:normAutofit/>
          </a:bodyPr>
          <a:lstStyle/>
          <a:p>
            <a:pPr marL="284480" indent="-284480" algn="l">
              <a:lnSpc>
                <a:spcPct val="121000"/>
              </a:lnSpc>
              <a:buSzPct val="100000"/>
              <a:buChar char="•"/>
            </a:pPr>
            <a:r>
              <a:rPr lang="en-US" sz="1400" b="1" dirty="0">
                <a:solidFill>
                  <a:srgbClr val="2A3A43"/>
                </a:solidFill>
                <a:latin typeface="Geist Bold" pitchFamily="34" charset="0"/>
                <a:ea typeface="Geist Bold" pitchFamily="34" charset="-122"/>
                <a:cs typeface="Geist Bold" pitchFamily="34" charset="-120"/>
              </a:rPr>
              <a:t>2520030001</a:t>
            </a:r>
            <a:r>
              <a:rPr lang="en-US" sz="1400" dirty="0">
                <a:solidFill>
                  <a:srgbClr val="2A3A43"/>
                </a:solidFill>
                <a:latin typeface="Geist" pitchFamily="34" charset="0"/>
                <a:ea typeface="Geist" pitchFamily="34" charset="-122"/>
                <a:cs typeface="Geist" pitchFamily="34" charset="-120"/>
              </a:rPr>
              <a:t> — M. ASWITHA PATEL</a:t>
            </a:r>
            <a:endParaRPr lang="en-US" sz="1400" dirty="0"/>
          </a:p>
          <a:p>
            <a:pPr marL="284480" indent="-284480" algn="l">
              <a:lnSpc>
                <a:spcPct val="121000"/>
              </a:lnSpc>
              <a:buSzPct val="100000"/>
              <a:buChar char="•"/>
            </a:pPr>
            <a:r>
              <a:rPr lang="en-US" sz="1400" b="1" dirty="0">
                <a:solidFill>
                  <a:srgbClr val="2A3A43"/>
                </a:solidFill>
                <a:latin typeface="Geist Bold" pitchFamily="34" charset="0"/>
                <a:ea typeface="Geist Bold" pitchFamily="34" charset="-122"/>
                <a:cs typeface="Geist Bold" pitchFamily="34" charset="-120"/>
              </a:rPr>
              <a:t>2520030098</a:t>
            </a:r>
            <a:r>
              <a:rPr lang="en-US" sz="1400" dirty="0">
                <a:solidFill>
                  <a:srgbClr val="2A3A43"/>
                </a:solidFill>
                <a:latin typeface="Geist" pitchFamily="34" charset="0"/>
                <a:ea typeface="Geist" pitchFamily="34" charset="-122"/>
                <a:cs typeface="Geist" pitchFamily="34" charset="-120"/>
              </a:rPr>
              <a:t> — G. SUSHMA SREE</a:t>
            </a:r>
            <a:endParaRPr lang="en-US" sz="1400" dirty="0"/>
          </a:p>
          <a:p>
            <a:pPr marL="284480" indent="-284480" algn="l">
              <a:lnSpc>
                <a:spcPct val="121000"/>
              </a:lnSpc>
              <a:buSzPct val="100000"/>
              <a:buChar char="•"/>
            </a:pPr>
            <a:r>
              <a:rPr lang="en-US" sz="1400" b="1" dirty="0">
                <a:solidFill>
                  <a:srgbClr val="2A3A43"/>
                </a:solidFill>
                <a:latin typeface="Geist Bold" pitchFamily="34" charset="0"/>
                <a:ea typeface="Geist Bold" pitchFamily="34" charset="-122"/>
                <a:cs typeface="Geist Bold" pitchFamily="34" charset="-120"/>
              </a:rPr>
              <a:t>2520030414</a:t>
            </a:r>
            <a:r>
              <a:rPr lang="en-US" sz="1400" dirty="0">
                <a:solidFill>
                  <a:srgbClr val="2A3A43"/>
                </a:solidFill>
                <a:latin typeface="Geist" pitchFamily="34" charset="0"/>
                <a:ea typeface="Geist" pitchFamily="34" charset="-122"/>
                <a:cs typeface="Geist" pitchFamily="34" charset="-120"/>
              </a:rPr>
              <a:t> — N. YISHNAANI</a:t>
            </a:r>
            <a:endParaRPr lang="en-US" sz="1400" dirty="0"/>
          </a:p>
        </p:txBody>
      </p:sp>
      <p:pic>
        <p:nvPicPr>
          <p:cNvPr id="8" name="Image 0" descr="preencoded.png"/>
          <p:cNvPicPr>
            <a:picLocks noChangeAspect="1"/>
          </p:cNvPicPr>
          <p:nvPr/>
        </p:nvPicPr>
        <p:blipFill>
          <a:blip r:embed="rId3"/>
          <a:stretch>
            <a:fillRect/>
          </a:stretch>
        </p:blipFill>
        <p:spPr>
          <a:xfrm>
            <a:off x="7721407" y="0"/>
            <a:ext cx="4470288"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marL="0" indent="0" algn="l">
              <a:lnSpc>
                <a:spcPct val="108000"/>
              </a:lnSpc>
              <a:buNone/>
            </a:pPr>
            <a:r>
              <a:rPr lang="en-US" sz="1100" kern="0" spc="88" dirty="0">
                <a:solidFill>
                  <a:srgbClr val="55656E"/>
                </a:solidFill>
                <a:latin typeface="Geist Mono Medium" pitchFamily="34" charset="0"/>
                <a:ea typeface="Geist Mono Medium" pitchFamily="34" charset="-122"/>
                <a:cs typeface="Geist Mono Medium" pitchFamily="34" charset="-120"/>
              </a:rPr>
              <a:t>EXECUTIVE OVERVIEW</a:t>
            </a:r>
            <a:endParaRPr lang="en-US" sz="1100" dirty="0"/>
          </a:p>
        </p:txBody>
      </p:sp>
      <p:sp>
        <p:nvSpPr>
          <p:cNvPr id="3" name="Text 1"/>
          <p:cNvSpPr/>
          <p:nvPr/>
        </p:nvSpPr>
        <p:spPr>
          <a:xfrm>
            <a:off x="609585" y="864195"/>
            <a:ext cx="10972526" cy="466328"/>
          </a:xfrm>
          <a:prstGeom prst="rect">
            <a:avLst/>
          </a:prstGeom>
          <a:noFill/>
          <a:ln/>
        </p:spPr>
        <p:txBody>
          <a:bodyPr wrap="none" lIns="0" tIns="0" rIns="0" bIns="0" rtlCol="0" anchor="t"/>
          <a:lstStyle/>
          <a:p>
            <a:pPr marL="0" indent="0" algn="l">
              <a:lnSpc>
                <a:spcPct val="90000"/>
              </a:lnSpc>
              <a:buNone/>
            </a:pPr>
            <a:r>
              <a:rPr lang="en-US" sz="3400" kern="0" spc="-85" dirty="0">
                <a:solidFill>
                  <a:srgbClr val="0F1E26"/>
                </a:solidFill>
                <a:latin typeface="Geist Medium" pitchFamily="34" charset="0"/>
                <a:ea typeface="Geist Medium" pitchFamily="34" charset="-122"/>
                <a:cs typeface="Geist Medium" pitchFamily="34" charset="-120"/>
              </a:rPr>
              <a:t>Abstract</a:t>
            </a:r>
            <a:endParaRPr lang="en-US" sz="3400" dirty="0"/>
          </a:p>
        </p:txBody>
      </p:sp>
      <p:sp>
        <p:nvSpPr>
          <p:cNvPr id="4" name="Text 2"/>
          <p:cNvSpPr/>
          <p:nvPr/>
        </p:nvSpPr>
        <p:spPr>
          <a:xfrm>
            <a:off x="609585" y="1540073"/>
            <a:ext cx="10972526" cy="561181"/>
          </a:xfrm>
          <a:prstGeom prst="rect">
            <a:avLst/>
          </a:prstGeom>
          <a:noFill/>
          <a:ln/>
        </p:spPr>
        <p:txBody>
          <a:bodyPr wrap="square" lIns="0" tIns="0" rIns="0" bIns="0" rtlCol="0" anchor="t">
            <a:normAutofit/>
          </a:bodyPr>
          <a:lstStyle/>
          <a:p>
            <a:pPr marL="0" indent="0" algn="l">
              <a:lnSpc>
                <a:spcPct val="108000"/>
              </a:lnSpc>
              <a:buNone/>
            </a:pPr>
            <a:r>
              <a:rPr lang="en-US" sz="1700" kern="0" spc="-8" dirty="0">
                <a:solidFill>
                  <a:srgbClr val="55656E"/>
                </a:solidFill>
                <a:latin typeface="Geist" pitchFamily="34" charset="0"/>
                <a:ea typeface="Geist" pitchFamily="34" charset="-122"/>
                <a:cs typeface="Geist" pitchFamily="34" charset="-120"/>
              </a:rPr>
              <a:t>IndicSearch retrieves relevant information from Indian-language Wikipedia through Unicode-aware preprocessing, keyword matching, and frequency-based ranking.</a:t>
            </a:r>
            <a:endParaRPr lang="en-US" sz="1700" dirty="0"/>
          </a:p>
        </p:txBody>
      </p:sp>
      <p:sp>
        <p:nvSpPr>
          <p:cNvPr id="5" name="Text 3"/>
          <p:cNvSpPr/>
          <p:nvPr/>
        </p:nvSpPr>
        <p:spPr>
          <a:xfrm>
            <a:off x="609585" y="2304455"/>
            <a:ext cx="2743131" cy="181570"/>
          </a:xfrm>
          <a:prstGeom prst="rect">
            <a:avLst/>
          </a:prstGeom>
          <a:noFill/>
          <a:ln/>
        </p:spPr>
        <p:txBody>
          <a:bodyPr wrap="none" lIns="0" tIns="0" rIns="0" bIns="0" rtlCol="0" anchor="t"/>
          <a:lstStyle/>
          <a:p>
            <a:pPr marL="0" indent="0" algn="l">
              <a:lnSpc>
                <a:spcPct val="108000"/>
              </a:lnSpc>
              <a:buNone/>
            </a:pPr>
            <a:r>
              <a:rPr lang="en-US" sz="1100" kern="0" spc="88" dirty="0">
                <a:solidFill>
                  <a:srgbClr val="55656E"/>
                </a:solidFill>
                <a:latin typeface="Geist Mono Medium" pitchFamily="34" charset="0"/>
                <a:ea typeface="Geist Mono Medium" pitchFamily="34" charset="-122"/>
                <a:cs typeface="Geist Mono Medium" pitchFamily="34" charset="-120"/>
              </a:rPr>
              <a:t>STORAGE &amp; INDEX</a:t>
            </a:r>
            <a:endParaRPr lang="en-US" sz="1100" dirty="0"/>
          </a:p>
        </p:txBody>
      </p:sp>
      <p:sp>
        <p:nvSpPr>
          <p:cNvPr id="6" name="Text 4"/>
          <p:cNvSpPr/>
          <p:nvPr/>
        </p:nvSpPr>
        <p:spPr>
          <a:xfrm>
            <a:off x="609585" y="2559050"/>
            <a:ext cx="2539936"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HashMap &amp; Inverted Index</a:t>
            </a:r>
            <a:endParaRPr lang="en-US" sz="1500" dirty="0"/>
          </a:p>
        </p:txBody>
      </p:sp>
      <p:sp>
        <p:nvSpPr>
          <p:cNvPr id="7" name="Text 5"/>
          <p:cNvSpPr/>
          <p:nvPr/>
        </p:nvSpPr>
        <p:spPr>
          <a:xfrm>
            <a:off x="609585" y="2914650"/>
            <a:ext cx="2539936" cy="822722"/>
          </a:xfrm>
          <a:prstGeom prst="rect">
            <a:avLst/>
          </a:prstGeom>
          <a:noFill/>
          <a:ln/>
        </p:spPr>
        <p:txBody>
          <a:bodyPr wrap="square" lIns="0" tIns="0" rIns="0" bIns="0" rtlCol="0" anchor="t">
            <a:normAutofit/>
          </a:bodyPr>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Structured keyword-to-document posting lists enable instant candidate lookup without sequential corpus scanning.</a:t>
            </a:r>
            <a:endParaRPr lang="en-US" sz="1200" dirty="0"/>
          </a:p>
        </p:txBody>
      </p:sp>
      <p:sp>
        <p:nvSpPr>
          <p:cNvPr id="8" name="Text 6"/>
          <p:cNvSpPr/>
          <p:nvPr/>
        </p:nvSpPr>
        <p:spPr>
          <a:xfrm>
            <a:off x="3555911" y="2304455"/>
            <a:ext cx="2539936" cy="181570"/>
          </a:xfrm>
          <a:prstGeom prst="rect">
            <a:avLst/>
          </a:prstGeom>
          <a:noFill/>
          <a:ln/>
        </p:spPr>
        <p:txBody>
          <a:bodyPr wrap="none" lIns="0" tIns="0" rIns="0" bIns="0" rtlCol="0" anchor="t"/>
          <a:lstStyle/>
          <a:p>
            <a:pPr marL="0" indent="0" algn="l">
              <a:lnSpc>
                <a:spcPct val="108000"/>
              </a:lnSpc>
              <a:buNone/>
            </a:pPr>
            <a:r>
              <a:rPr lang="en-US" sz="1100" kern="0" spc="88" dirty="0">
                <a:solidFill>
                  <a:srgbClr val="55656E"/>
                </a:solidFill>
                <a:latin typeface="Geist Mono Medium" pitchFamily="34" charset="0"/>
                <a:ea typeface="Geist Mono Medium" pitchFamily="34" charset="-122"/>
                <a:cs typeface="Geist Mono Medium" pitchFamily="34" charset="-120"/>
              </a:rPr>
              <a:t>AUTOCOMPLETE</a:t>
            </a:r>
            <a:endParaRPr lang="en-US" sz="1100" dirty="0"/>
          </a:p>
        </p:txBody>
      </p:sp>
      <p:sp>
        <p:nvSpPr>
          <p:cNvPr id="9" name="Text 7"/>
          <p:cNvSpPr/>
          <p:nvPr/>
        </p:nvSpPr>
        <p:spPr>
          <a:xfrm>
            <a:off x="3555911" y="2559050"/>
            <a:ext cx="2336742"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Trie Prefix Engine</a:t>
            </a:r>
            <a:endParaRPr lang="en-US" sz="1500" dirty="0"/>
          </a:p>
        </p:txBody>
      </p:sp>
      <p:sp>
        <p:nvSpPr>
          <p:cNvPr id="10" name="Text 8"/>
          <p:cNvSpPr/>
          <p:nvPr/>
        </p:nvSpPr>
        <p:spPr>
          <a:xfrm>
            <a:off x="3555911" y="2914650"/>
            <a:ext cx="2336742" cy="822722"/>
          </a:xfrm>
          <a:prstGeom prst="rect">
            <a:avLst/>
          </a:prstGeom>
          <a:noFill/>
          <a:ln/>
        </p:spPr>
        <p:txBody>
          <a:bodyPr wrap="square" lIns="0" tIns="0" rIns="0" bIns="0" rtlCol="0" anchor="t">
            <a:normAutofit/>
          </a:bodyPr>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Retrieves real-time query suggestions dynamically as users type Indian-language script prefixes.</a:t>
            </a:r>
            <a:endParaRPr lang="en-US" sz="1200" dirty="0"/>
          </a:p>
        </p:txBody>
      </p:sp>
      <p:sp>
        <p:nvSpPr>
          <p:cNvPr id="11" name="Text 9"/>
          <p:cNvSpPr/>
          <p:nvPr/>
        </p:nvSpPr>
        <p:spPr>
          <a:xfrm>
            <a:off x="6299042" y="2304455"/>
            <a:ext cx="2539936" cy="181570"/>
          </a:xfrm>
          <a:prstGeom prst="rect">
            <a:avLst/>
          </a:prstGeom>
          <a:noFill/>
          <a:ln/>
        </p:spPr>
        <p:txBody>
          <a:bodyPr wrap="none" lIns="0" tIns="0" rIns="0" bIns="0" rtlCol="0" anchor="t"/>
          <a:lstStyle/>
          <a:p>
            <a:pPr marL="0" indent="0" algn="l">
              <a:lnSpc>
                <a:spcPct val="108000"/>
              </a:lnSpc>
              <a:buNone/>
            </a:pPr>
            <a:r>
              <a:rPr lang="en-US" sz="1100" kern="0" spc="88" dirty="0">
                <a:solidFill>
                  <a:srgbClr val="55656E"/>
                </a:solidFill>
                <a:latin typeface="Geist Mono Medium" pitchFamily="34" charset="0"/>
                <a:ea typeface="Geist Mono Medium" pitchFamily="34" charset="-122"/>
                <a:cs typeface="Geist Mono Medium" pitchFamily="34" charset="-120"/>
              </a:rPr>
              <a:t>SCORING &amp; SORT</a:t>
            </a:r>
            <a:endParaRPr lang="en-US" sz="1100" dirty="0"/>
          </a:p>
        </p:txBody>
      </p:sp>
      <p:sp>
        <p:nvSpPr>
          <p:cNvPr id="12" name="Text 10"/>
          <p:cNvSpPr/>
          <p:nvPr/>
        </p:nvSpPr>
        <p:spPr>
          <a:xfrm>
            <a:off x="6299042" y="2559050"/>
            <a:ext cx="2336742"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Merge Sort Ranking</a:t>
            </a:r>
            <a:endParaRPr lang="en-US" sz="1500" dirty="0"/>
          </a:p>
        </p:txBody>
      </p:sp>
      <p:sp>
        <p:nvSpPr>
          <p:cNvPr id="13" name="Text 11"/>
          <p:cNvSpPr/>
          <p:nvPr/>
        </p:nvSpPr>
        <p:spPr>
          <a:xfrm>
            <a:off x="6299042" y="2914650"/>
            <a:ext cx="2336742" cy="822722"/>
          </a:xfrm>
          <a:prstGeom prst="rect">
            <a:avLst/>
          </a:prstGeom>
          <a:noFill/>
          <a:ln/>
        </p:spPr>
        <p:txBody>
          <a:bodyPr wrap="square" lIns="0" tIns="0" rIns="0" bIns="0" rtlCol="0" anchor="t">
            <a:normAutofit/>
          </a:bodyPr>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Orders retrieved documents deterministically in </a:t>
            </a:r>
            <a:r>
              <a:rPr lang="en-US" sz="1150" i="1" dirty="0">
                <a:solidFill>
                  <a:srgbClr val="55656E"/>
                </a:solidFill>
                <a:latin typeface="Consolas" pitchFamily="34" charset="0"/>
                <a:ea typeface="Consolas" pitchFamily="34" charset="-122"/>
                <a:cs typeface="Consolas" pitchFamily="34" charset="-120"/>
              </a:rPr>
              <a:t>     </a:t>
            </a:r>
            <a:r>
              <a:rPr lang="en-US" sz="1200" dirty="0">
                <a:solidFill>
                  <a:srgbClr val="55656E"/>
                </a:solidFill>
                <a:latin typeface="Geist" pitchFamily="34" charset="0"/>
                <a:ea typeface="Geist" pitchFamily="34" charset="-122"/>
                <a:cs typeface="Geist" pitchFamily="34" charset="-120"/>
              </a:rPr>
              <a:t> time by keyword occurrence frequency.</a:t>
            </a:r>
            <a:endParaRPr lang="en-US" sz="1200" dirty="0"/>
          </a:p>
        </p:txBody>
      </p:sp>
      <p:pic>
        <p:nvPicPr>
          <p:cNvPr id="14" name="Image 0" descr="preencoded.png"/>
          <p:cNvPicPr>
            <a:picLocks noChangeAspect="1"/>
          </p:cNvPicPr>
          <p:nvPr/>
        </p:nvPicPr>
        <p:blipFill>
          <a:blip r:embed="rId3"/>
          <a:stretch>
            <a:fillRect/>
          </a:stretch>
        </p:blipFill>
        <p:spPr>
          <a:xfrm>
            <a:off x="7650963" y="3139380"/>
            <a:ext cx="653934" cy="185043"/>
          </a:xfrm>
          <a:prstGeom prst="rect">
            <a:avLst/>
          </a:prstGeom>
        </p:spPr>
      </p:pic>
      <p:sp>
        <p:nvSpPr>
          <p:cNvPr id="15" name="Text 12"/>
          <p:cNvSpPr/>
          <p:nvPr/>
        </p:nvSpPr>
        <p:spPr>
          <a:xfrm>
            <a:off x="9042174" y="2304455"/>
            <a:ext cx="2539936" cy="181570"/>
          </a:xfrm>
          <a:prstGeom prst="rect">
            <a:avLst/>
          </a:prstGeom>
          <a:noFill/>
          <a:ln/>
        </p:spPr>
        <p:txBody>
          <a:bodyPr wrap="none" lIns="0" tIns="0" rIns="0" bIns="0" rtlCol="0" anchor="t"/>
          <a:lstStyle/>
          <a:p>
            <a:pPr marL="0" indent="0" algn="l">
              <a:lnSpc>
                <a:spcPct val="108000"/>
              </a:lnSpc>
              <a:buNone/>
            </a:pPr>
            <a:r>
              <a:rPr lang="en-US" sz="1100" kern="0" spc="88" dirty="0">
                <a:solidFill>
                  <a:srgbClr val="55656E"/>
                </a:solidFill>
                <a:latin typeface="Geist Mono Medium" pitchFamily="34" charset="0"/>
                <a:ea typeface="Geist Mono Medium" pitchFamily="34" charset="-122"/>
                <a:cs typeface="Geist Mono Medium" pitchFamily="34" charset="-120"/>
              </a:rPr>
              <a:t>USER INTERFACE</a:t>
            </a:r>
            <a:endParaRPr lang="en-US" sz="1100" dirty="0"/>
          </a:p>
        </p:txBody>
      </p:sp>
      <p:sp>
        <p:nvSpPr>
          <p:cNvPr id="16" name="Text 13"/>
          <p:cNvSpPr/>
          <p:nvPr/>
        </p:nvSpPr>
        <p:spPr>
          <a:xfrm>
            <a:off x="9042174" y="2559050"/>
            <a:ext cx="2539936"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Interactive Web Client</a:t>
            </a:r>
            <a:endParaRPr lang="en-US" sz="1500" dirty="0"/>
          </a:p>
        </p:txBody>
      </p:sp>
      <p:sp>
        <p:nvSpPr>
          <p:cNvPr id="17" name="Text 14"/>
          <p:cNvSpPr/>
          <p:nvPr/>
        </p:nvSpPr>
        <p:spPr>
          <a:xfrm>
            <a:off x="9042174" y="2914650"/>
            <a:ext cx="2539936" cy="617041"/>
          </a:xfrm>
          <a:prstGeom prst="rect">
            <a:avLst/>
          </a:prstGeom>
          <a:noFill/>
          <a:ln/>
        </p:spPr>
        <p:txBody>
          <a:bodyPr wrap="square" lIns="0" tIns="0" rIns="0" bIns="0" rtlCol="0" anchor="t">
            <a:normAutofit fontScale="92500"/>
          </a:bodyPr>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A clean frontend facilitating query input, language selection, ranked snippets, and live execution metrics.</a:t>
            </a:r>
            <a:endParaRPr lang="en-US" sz="1200" dirty="0"/>
          </a:p>
        </p:txBody>
      </p:sp>
      <p:sp>
        <p:nvSpPr>
          <p:cNvPr id="18" name="Text 15"/>
          <p:cNvSpPr/>
          <p:nvPr/>
        </p:nvSpPr>
        <p:spPr>
          <a:xfrm>
            <a:off x="609585" y="4802188"/>
            <a:ext cx="11582110" cy="181570"/>
          </a:xfrm>
          <a:prstGeom prst="rect">
            <a:avLst/>
          </a:prstGeom>
          <a:noFill/>
          <a:ln/>
        </p:spPr>
        <p:txBody>
          <a:bodyPr wrap="none" lIns="0" tIns="0" rIns="0" bIns="0" rtlCol="0" anchor="t"/>
          <a:lstStyle/>
          <a:p>
            <a:pPr marL="0" indent="0" algn="l">
              <a:lnSpc>
                <a:spcPct val="108000"/>
              </a:lnSpc>
              <a:buNone/>
            </a:pPr>
            <a:r>
              <a:rPr lang="en-US" sz="1100" kern="0" spc="88" dirty="0">
                <a:solidFill>
                  <a:srgbClr val="55656E"/>
                </a:solidFill>
                <a:latin typeface="Geist Mono Medium" pitchFamily="34" charset="0"/>
                <a:ea typeface="Geist Mono Medium" pitchFamily="34" charset="-122"/>
                <a:cs typeface="Geist Mono Medium" pitchFamily="34" charset="-120"/>
              </a:rPr>
              <a:t>END-TO-END PIPELINE ARCHITECTURE</a:t>
            </a:r>
            <a:endParaRPr lang="en-US" sz="1100" dirty="0"/>
          </a:p>
        </p:txBody>
      </p:sp>
      <p:sp>
        <p:nvSpPr>
          <p:cNvPr id="19" name="Text 16"/>
          <p:cNvSpPr/>
          <p:nvPr/>
        </p:nvSpPr>
        <p:spPr>
          <a:xfrm>
            <a:off x="609585" y="5142508"/>
            <a:ext cx="805239" cy="177800"/>
          </a:xfrm>
          <a:prstGeom prst="rect">
            <a:avLst/>
          </a:prstGeom>
          <a:noFill/>
          <a:ln/>
        </p:spPr>
        <p:txBody>
          <a:bodyPr wrap="none" lIns="0" tIns="0" rIns="0" bIns="0" rtlCol="0" anchor="t"/>
          <a:lstStyle/>
          <a:p>
            <a:pPr marL="0" indent="0" algn="l">
              <a:lnSpc>
                <a:spcPct val="83000"/>
              </a:lnSpc>
              <a:buNone/>
            </a:pPr>
            <a:r>
              <a:rPr lang="en-US" sz="1400" dirty="0">
                <a:solidFill>
                  <a:srgbClr val="0B5C8E"/>
                </a:solidFill>
                <a:latin typeface="Geist SemiBold" pitchFamily="34" charset="0"/>
                <a:ea typeface="Geist SemiBold" pitchFamily="34" charset="-122"/>
                <a:cs typeface="Geist SemiBold" pitchFamily="34" charset="-120"/>
              </a:rPr>
              <a:t>01</a:t>
            </a:r>
            <a:endParaRPr lang="en-US" sz="1400" dirty="0"/>
          </a:p>
        </p:txBody>
      </p:sp>
      <p:sp>
        <p:nvSpPr>
          <p:cNvPr id="20" name="Shape 17"/>
          <p:cNvSpPr/>
          <p:nvPr/>
        </p:nvSpPr>
        <p:spPr>
          <a:xfrm>
            <a:off x="609585" y="5391348"/>
            <a:ext cx="1701757" cy="19050"/>
          </a:xfrm>
          <a:prstGeom prst="rect">
            <a:avLst/>
          </a:prstGeom>
          <a:solidFill>
            <a:srgbClr val="0B5C8E"/>
          </a:solidFill>
          <a:ln/>
        </p:spPr>
      </p:sp>
      <p:sp>
        <p:nvSpPr>
          <p:cNvPr id="21" name="Text 18"/>
          <p:cNvSpPr/>
          <p:nvPr/>
        </p:nvSpPr>
        <p:spPr>
          <a:xfrm>
            <a:off x="609585" y="5481439"/>
            <a:ext cx="1701757"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User Query</a:t>
            </a:r>
            <a:endParaRPr lang="en-US" sz="1500" dirty="0"/>
          </a:p>
        </p:txBody>
      </p:sp>
      <p:sp>
        <p:nvSpPr>
          <p:cNvPr id="22" name="Text 19"/>
          <p:cNvSpPr/>
          <p:nvPr/>
        </p:nvSpPr>
        <p:spPr>
          <a:xfrm>
            <a:off x="609585" y="5837039"/>
            <a:ext cx="1701757" cy="205680"/>
          </a:xfrm>
          <a:prstGeom prst="rect">
            <a:avLst/>
          </a:prstGeom>
          <a:noFill/>
          <a:ln/>
        </p:spPr>
        <p:txBody>
          <a:bodyPr wrap="none" lIns="0" tIns="0" rIns="0" bIns="0" rtlCol="0" anchor="t"/>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Target language &amp; terms</a:t>
            </a:r>
            <a:endParaRPr lang="en-US" sz="1200" dirty="0"/>
          </a:p>
        </p:txBody>
      </p:sp>
      <p:sp>
        <p:nvSpPr>
          <p:cNvPr id="23" name="Text 20"/>
          <p:cNvSpPr/>
          <p:nvPr/>
        </p:nvSpPr>
        <p:spPr>
          <a:xfrm>
            <a:off x="2463738" y="5142508"/>
            <a:ext cx="845223" cy="177800"/>
          </a:xfrm>
          <a:prstGeom prst="rect">
            <a:avLst/>
          </a:prstGeom>
          <a:noFill/>
          <a:ln/>
        </p:spPr>
        <p:txBody>
          <a:bodyPr wrap="none" lIns="0" tIns="0" rIns="0" bIns="0" rtlCol="0" anchor="t"/>
          <a:lstStyle/>
          <a:p>
            <a:pPr marL="0" indent="0" algn="l">
              <a:lnSpc>
                <a:spcPct val="83000"/>
              </a:lnSpc>
              <a:buNone/>
            </a:pPr>
            <a:r>
              <a:rPr lang="en-US" sz="1400" dirty="0">
                <a:solidFill>
                  <a:srgbClr val="0B5C8E"/>
                </a:solidFill>
                <a:latin typeface="Geist SemiBold" pitchFamily="34" charset="0"/>
                <a:ea typeface="Geist SemiBold" pitchFamily="34" charset="-122"/>
                <a:cs typeface="Geist SemiBold" pitchFamily="34" charset="-120"/>
              </a:rPr>
              <a:t>02</a:t>
            </a:r>
            <a:endParaRPr lang="en-US" sz="1400" dirty="0"/>
          </a:p>
        </p:txBody>
      </p:sp>
      <p:sp>
        <p:nvSpPr>
          <p:cNvPr id="24" name="Shape 21"/>
          <p:cNvSpPr/>
          <p:nvPr/>
        </p:nvSpPr>
        <p:spPr>
          <a:xfrm>
            <a:off x="2463738" y="5391348"/>
            <a:ext cx="1701757" cy="19050"/>
          </a:xfrm>
          <a:prstGeom prst="rect">
            <a:avLst/>
          </a:prstGeom>
          <a:solidFill>
            <a:srgbClr val="0B5C8E"/>
          </a:solidFill>
          <a:ln/>
        </p:spPr>
      </p:sp>
      <p:sp>
        <p:nvSpPr>
          <p:cNvPr id="25" name="Text 22"/>
          <p:cNvSpPr/>
          <p:nvPr/>
        </p:nvSpPr>
        <p:spPr>
          <a:xfrm>
            <a:off x="2463738" y="5481439"/>
            <a:ext cx="1701757"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Text Processing</a:t>
            </a:r>
            <a:endParaRPr lang="en-US" sz="1500" dirty="0"/>
          </a:p>
        </p:txBody>
      </p:sp>
      <p:sp>
        <p:nvSpPr>
          <p:cNvPr id="26" name="Text 23"/>
          <p:cNvSpPr/>
          <p:nvPr/>
        </p:nvSpPr>
        <p:spPr>
          <a:xfrm>
            <a:off x="2463738" y="5837039"/>
            <a:ext cx="1701757" cy="411361"/>
          </a:xfrm>
          <a:prstGeom prst="rect">
            <a:avLst/>
          </a:prstGeom>
          <a:noFill/>
          <a:ln/>
        </p:spPr>
        <p:txBody>
          <a:bodyPr wrap="square" lIns="0" tIns="0" rIns="0" bIns="0" rtlCol="0" anchor="t">
            <a:normAutofit/>
          </a:bodyPr>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Unicode normalize &amp; tokenize</a:t>
            </a:r>
            <a:endParaRPr lang="en-US" sz="1200" dirty="0"/>
          </a:p>
        </p:txBody>
      </p:sp>
      <p:sp>
        <p:nvSpPr>
          <p:cNvPr id="27" name="Text 24"/>
          <p:cNvSpPr/>
          <p:nvPr/>
        </p:nvSpPr>
        <p:spPr>
          <a:xfrm>
            <a:off x="4317892" y="5142508"/>
            <a:ext cx="844330" cy="177800"/>
          </a:xfrm>
          <a:prstGeom prst="rect">
            <a:avLst/>
          </a:prstGeom>
          <a:noFill/>
          <a:ln/>
        </p:spPr>
        <p:txBody>
          <a:bodyPr wrap="none" lIns="0" tIns="0" rIns="0" bIns="0" rtlCol="0" anchor="t"/>
          <a:lstStyle/>
          <a:p>
            <a:pPr marL="0" indent="0" algn="l">
              <a:lnSpc>
                <a:spcPct val="83000"/>
              </a:lnSpc>
              <a:buNone/>
            </a:pPr>
            <a:r>
              <a:rPr lang="en-US" sz="1400" dirty="0">
                <a:solidFill>
                  <a:srgbClr val="0B5C8E"/>
                </a:solidFill>
                <a:latin typeface="Geist SemiBold" pitchFamily="34" charset="0"/>
                <a:ea typeface="Geist SemiBold" pitchFamily="34" charset="-122"/>
                <a:cs typeface="Geist SemiBold" pitchFamily="34" charset="-120"/>
              </a:rPr>
              <a:t>03</a:t>
            </a:r>
            <a:endParaRPr lang="en-US" sz="1400" dirty="0"/>
          </a:p>
        </p:txBody>
      </p:sp>
      <p:sp>
        <p:nvSpPr>
          <p:cNvPr id="28" name="Shape 25"/>
          <p:cNvSpPr/>
          <p:nvPr/>
        </p:nvSpPr>
        <p:spPr>
          <a:xfrm>
            <a:off x="4317892" y="5391348"/>
            <a:ext cx="1701757" cy="19050"/>
          </a:xfrm>
          <a:prstGeom prst="rect">
            <a:avLst/>
          </a:prstGeom>
          <a:solidFill>
            <a:srgbClr val="0B5C8E"/>
          </a:solidFill>
          <a:ln/>
        </p:spPr>
      </p:sp>
      <p:sp>
        <p:nvSpPr>
          <p:cNvPr id="29" name="Text 26"/>
          <p:cNvSpPr/>
          <p:nvPr/>
        </p:nvSpPr>
        <p:spPr>
          <a:xfrm>
            <a:off x="4317892" y="5481439"/>
            <a:ext cx="1701757"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Index Lookup</a:t>
            </a:r>
            <a:endParaRPr lang="en-US" sz="1500" dirty="0"/>
          </a:p>
        </p:txBody>
      </p:sp>
      <p:sp>
        <p:nvSpPr>
          <p:cNvPr id="30" name="Text 27"/>
          <p:cNvSpPr/>
          <p:nvPr/>
        </p:nvSpPr>
        <p:spPr>
          <a:xfrm>
            <a:off x="4317892" y="5837039"/>
            <a:ext cx="1701757" cy="205680"/>
          </a:xfrm>
          <a:prstGeom prst="rect">
            <a:avLst/>
          </a:prstGeom>
          <a:noFill/>
          <a:ln/>
        </p:spPr>
        <p:txBody>
          <a:bodyPr wrap="none" lIns="0" tIns="0" rIns="0" bIns="0" rtlCol="0" anchor="t"/>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HashMap keyword map</a:t>
            </a:r>
            <a:endParaRPr lang="en-US" sz="1200" dirty="0"/>
          </a:p>
        </p:txBody>
      </p:sp>
      <p:sp>
        <p:nvSpPr>
          <p:cNvPr id="31" name="Text 28"/>
          <p:cNvSpPr/>
          <p:nvPr/>
        </p:nvSpPr>
        <p:spPr>
          <a:xfrm>
            <a:off x="6172046" y="5142508"/>
            <a:ext cx="844727" cy="177800"/>
          </a:xfrm>
          <a:prstGeom prst="rect">
            <a:avLst/>
          </a:prstGeom>
          <a:noFill/>
          <a:ln/>
        </p:spPr>
        <p:txBody>
          <a:bodyPr wrap="none" lIns="0" tIns="0" rIns="0" bIns="0" rtlCol="0" anchor="t"/>
          <a:lstStyle/>
          <a:p>
            <a:pPr marL="0" indent="0" algn="l">
              <a:lnSpc>
                <a:spcPct val="83000"/>
              </a:lnSpc>
              <a:buNone/>
            </a:pPr>
            <a:r>
              <a:rPr lang="en-US" sz="1400" dirty="0">
                <a:solidFill>
                  <a:srgbClr val="0B5C8E"/>
                </a:solidFill>
                <a:latin typeface="Geist SemiBold" pitchFamily="34" charset="0"/>
                <a:ea typeface="Geist SemiBold" pitchFamily="34" charset="-122"/>
                <a:cs typeface="Geist SemiBold" pitchFamily="34" charset="-120"/>
              </a:rPr>
              <a:t>04</a:t>
            </a:r>
            <a:endParaRPr lang="en-US" sz="1400" dirty="0"/>
          </a:p>
        </p:txBody>
      </p:sp>
      <p:sp>
        <p:nvSpPr>
          <p:cNvPr id="32" name="Shape 29"/>
          <p:cNvSpPr/>
          <p:nvPr/>
        </p:nvSpPr>
        <p:spPr>
          <a:xfrm>
            <a:off x="6172046" y="5391348"/>
            <a:ext cx="1701757" cy="19050"/>
          </a:xfrm>
          <a:prstGeom prst="rect">
            <a:avLst/>
          </a:prstGeom>
          <a:solidFill>
            <a:srgbClr val="0B5C8E"/>
          </a:solidFill>
          <a:ln/>
        </p:spPr>
      </p:sp>
      <p:sp>
        <p:nvSpPr>
          <p:cNvPr id="33" name="Text 30"/>
          <p:cNvSpPr/>
          <p:nvPr/>
        </p:nvSpPr>
        <p:spPr>
          <a:xfrm>
            <a:off x="6172046" y="5481439"/>
            <a:ext cx="1701757"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Search Engine</a:t>
            </a:r>
            <a:endParaRPr lang="en-US" sz="1500" dirty="0"/>
          </a:p>
        </p:txBody>
      </p:sp>
      <p:sp>
        <p:nvSpPr>
          <p:cNvPr id="34" name="Text 31"/>
          <p:cNvSpPr/>
          <p:nvPr/>
        </p:nvSpPr>
        <p:spPr>
          <a:xfrm>
            <a:off x="6172046" y="5837039"/>
            <a:ext cx="1701757" cy="205680"/>
          </a:xfrm>
          <a:prstGeom prst="rect">
            <a:avLst/>
          </a:prstGeom>
          <a:noFill/>
          <a:ln/>
        </p:spPr>
        <p:txBody>
          <a:bodyPr wrap="none" lIns="0" tIns="0" rIns="0" bIns="0" rtlCol="0" anchor="t"/>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Frequency scoring</a:t>
            </a:r>
            <a:endParaRPr lang="en-US" sz="1200" dirty="0"/>
          </a:p>
        </p:txBody>
      </p:sp>
      <p:sp>
        <p:nvSpPr>
          <p:cNvPr id="35" name="Text 32"/>
          <p:cNvSpPr/>
          <p:nvPr/>
        </p:nvSpPr>
        <p:spPr>
          <a:xfrm>
            <a:off x="8026199" y="5142508"/>
            <a:ext cx="847704" cy="177800"/>
          </a:xfrm>
          <a:prstGeom prst="rect">
            <a:avLst/>
          </a:prstGeom>
          <a:noFill/>
          <a:ln/>
        </p:spPr>
        <p:txBody>
          <a:bodyPr wrap="none" lIns="0" tIns="0" rIns="0" bIns="0" rtlCol="0" anchor="t"/>
          <a:lstStyle/>
          <a:p>
            <a:pPr marL="0" indent="0" algn="l">
              <a:lnSpc>
                <a:spcPct val="83000"/>
              </a:lnSpc>
              <a:buNone/>
            </a:pPr>
            <a:r>
              <a:rPr lang="en-US" sz="1400" dirty="0">
                <a:solidFill>
                  <a:srgbClr val="0B5C8E"/>
                </a:solidFill>
                <a:latin typeface="Geist SemiBold" pitchFamily="34" charset="0"/>
                <a:ea typeface="Geist SemiBold" pitchFamily="34" charset="-122"/>
                <a:cs typeface="Geist SemiBold" pitchFamily="34" charset="-120"/>
              </a:rPr>
              <a:t>05</a:t>
            </a:r>
            <a:endParaRPr lang="en-US" sz="1400" dirty="0"/>
          </a:p>
        </p:txBody>
      </p:sp>
      <p:sp>
        <p:nvSpPr>
          <p:cNvPr id="36" name="Shape 33"/>
          <p:cNvSpPr/>
          <p:nvPr/>
        </p:nvSpPr>
        <p:spPr>
          <a:xfrm>
            <a:off x="8026199" y="5391348"/>
            <a:ext cx="1701757" cy="19050"/>
          </a:xfrm>
          <a:prstGeom prst="rect">
            <a:avLst/>
          </a:prstGeom>
          <a:solidFill>
            <a:srgbClr val="0B5C8E"/>
          </a:solidFill>
          <a:ln/>
        </p:spPr>
      </p:sp>
      <p:sp>
        <p:nvSpPr>
          <p:cNvPr id="37" name="Text 34"/>
          <p:cNvSpPr/>
          <p:nvPr/>
        </p:nvSpPr>
        <p:spPr>
          <a:xfrm>
            <a:off x="8026199" y="5481439"/>
            <a:ext cx="1701757"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Merge Sort</a:t>
            </a:r>
            <a:endParaRPr lang="en-US" sz="1500" dirty="0"/>
          </a:p>
        </p:txBody>
      </p:sp>
      <p:sp>
        <p:nvSpPr>
          <p:cNvPr id="38" name="Text 35"/>
          <p:cNvSpPr/>
          <p:nvPr/>
        </p:nvSpPr>
        <p:spPr>
          <a:xfrm>
            <a:off x="8026199" y="5837039"/>
            <a:ext cx="1701757" cy="205680"/>
          </a:xfrm>
          <a:prstGeom prst="rect">
            <a:avLst/>
          </a:prstGeom>
          <a:noFill/>
          <a:ln/>
        </p:spPr>
        <p:txBody>
          <a:bodyPr wrap="none" lIns="0" tIns="0" rIns="0" bIns="0" rtlCol="0" anchor="t"/>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Rank by relevance</a:t>
            </a:r>
            <a:endParaRPr lang="en-US" sz="1200" dirty="0"/>
          </a:p>
        </p:txBody>
      </p:sp>
      <p:sp>
        <p:nvSpPr>
          <p:cNvPr id="39" name="Text 36"/>
          <p:cNvSpPr/>
          <p:nvPr/>
        </p:nvSpPr>
        <p:spPr>
          <a:xfrm>
            <a:off x="9880353" y="5142508"/>
            <a:ext cx="842148" cy="177800"/>
          </a:xfrm>
          <a:prstGeom prst="rect">
            <a:avLst/>
          </a:prstGeom>
          <a:noFill/>
          <a:ln/>
        </p:spPr>
        <p:txBody>
          <a:bodyPr wrap="none" lIns="0" tIns="0" rIns="0" bIns="0" rtlCol="0" anchor="t"/>
          <a:lstStyle/>
          <a:p>
            <a:pPr marL="0" indent="0" algn="l">
              <a:lnSpc>
                <a:spcPct val="83000"/>
              </a:lnSpc>
              <a:buNone/>
            </a:pPr>
            <a:r>
              <a:rPr lang="en-US" sz="1400" dirty="0">
                <a:solidFill>
                  <a:srgbClr val="0B5C8E"/>
                </a:solidFill>
                <a:latin typeface="Geist SemiBold" pitchFamily="34" charset="0"/>
                <a:ea typeface="Geist SemiBold" pitchFamily="34" charset="-122"/>
                <a:cs typeface="Geist SemiBold" pitchFamily="34" charset="-120"/>
              </a:rPr>
              <a:t>06</a:t>
            </a:r>
            <a:endParaRPr lang="en-US" sz="1400" dirty="0"/>
          </a:p>
        </p:txBody>
      </p:sp>
      <p:sp>
        <p:nvSpPr>
          <p:cNvPr id="40" name="Shape 37"/>
          <p:cNvSpPr/>
          <p:nvPr/>
        </p:nvSpPr>
        <p:spPr>
          <a:xfrm>
            <a:off x="9880353" y="5391348"/>
            <a:ext cx="1701757" cy="19050"/>
          </a:xfrm>
          <a:prstGeom prst="rect">
            <a:avLst/>
          </a:prstGeom>
          <a:solidFill>
            <a:srgbClr val="0B5C8E"/>
          </a:solidFill>
          <a:ln/>
        </p:spPr>
      </p:sp>
      <p:sp>
        <p:nvSpPr>
          <p:cNvPr id="41" name="Text 38"/>
          <p:cNvSpPr/>
          <p:nvPr/>
        </p:nvSpPr>
        <p:spPr>
          <a:xfrm>
            <a:off x="9880353" y="5481439"/>
            <a:ext cx="1701757"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Ranked Results</a:t>
            </a:r>
            <a:endParaRPr lang="en-US" sz="1500" dirty="0"/>
          </a:p>
        </p:txBody>
      </p:sp>
      <p:sp>
        <p:nvSpPr>
          <p:cNvPr id="42" name="Text 39"/>
          <p:cNvSpPr/>
          <p:nvPr/>
        </p:nvSpPr>
        <p:spPr>
          <a:xfrm>
            <a:off x="9880353" y="5837039"/>
            <a:ext cx="1701757" cy="205680"/>
          </a:xfrm>
          <a:prstGeom prst="rect">
            <a:avLst/>
          </a:prstGeom>
          <a:noFill/>
          <a:ln/>
        </p:spPr>
        <p:txBody>
          <a:bodyPr wrap="none" lIns="0" tIns="0" rIns="0" bIns="0" rtlCol="0" anchor="t"/>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Display in web UI</a:t>
            </a:r>
            <a:endParaRPr lang="en-US" sz="1200" dirty="0"/>
          </a:p>
        </p:txBody>
      </p:sp>
      <p:sp>
        <p:nvSpPr>
          <p:cNvPr id="43" name="Shape 40"/>
          <p:cNvSpPr/>
          <p:nvPr/>
        </p:nvSpPr>
        <p:spPr>
          <a:xfrm>
            <a:off x="3346366" y="2304455"/>
            <a:ext cx="12700" cy="1432917"/>
          </a:xfrm>
          <a:prstGeom prst="rect">
            <a:avLst/>
          </a:prstGeom>
          <a:solidFill>
            <a:srgbClr val="C9D6DB"/>
          </a:solidFill>
          <a:ln/>
        </p:spPr>
      </p:sp>
      <p:sp>
        <p:nvSpPr>
          <p:cNvPr id="44" name="Shape 41"/>
          <p:cNvSpPr/>
          <p:nvPr/>
        </p:nvSpPr>
        <p:spPr>
          <a:xfrm>
            <a:off x="6089498" y="2304455"/>
            <a:ext cx="12700" cy="1432917"/>
          </a:xfrm>
          <a:prstGeom prst="rect">
            <a:avLst/>
          </a:prstGeom>
          <a:solidFill>
            <a:srgbClr val="C9D6DB"/>
          </a:solidFill>
          <a:ln/>
        </p:spPr>
      </p:sp>
      <p:sp>
        <p:nvSpPr>
          <p:cNvPr id="45" name="Shape 42"/>
          <p:cNvSpPr/>
          <p:nvPr/>
        </p:nvSpPr>
        <p:spPr>
          <a:xfrm>
            <a:off x="8832629" y="2304455"/>
            <a:ext cx="12700" cy="1432917"/>
          </a:xfrm>
          <a:prstGeom prst="rect">
            <a:avLst/>
          </a:prstGeom>
          <a:solidFill>
            <a:srgbClr val="C9D6DB"/>
          </a:solidFill>
          <a:ln/>
        </p:spPr>
      </p:sp>
      <p:sp>
        <p:nvSpPr>
          <p:cNvPr id="46" name="Text 43"/>
          <p:cNvSpPr/>
          <p:nvPr/>
        </p:nvSpPr>
        <p:spPr>
          <a:xfrm>
            <a:off x="11400743" y="6456561"/>
            <a:ext cx="790952" cy="193278"/>
          </a:xfrm>
          <a:prstGeom prst="rect">
            <a:avLst/>
          </a:prstGeom>
          <a:noFill/>
          <a:ln/>
        </p:spPr>
        <p:txBody>
          <a:bodyPr wrap="none" lIns="0" tIns="0" rIns="0" bIns="0" rtlCol="0" anchor="ctr"/>
          <a:lstStyle/>
          <a:p>
            <a:pPr marL="0" indent="0" algn="l">
              <a:lnSpc>
                <a:spcPct val="121000"/>
              </a:lnSpc>
              <a:buNone/>
            </a:pPr>
            <a:r>
              <a:rPr lang="en-US" sz="1050" kern="0" spc="84" dirty="0">
                <a:solidFill>
                  <a:srgbClr val="55656E"/>
                </a:solidFill>
                <a:latin typeface="Geist Mono" pitchFamily="34" charset="0"/>
                <a:ea typeface="Geist Mono" pitchFamily="34" charset="-122"/>
                <a:cs typeface="Geist Mono" pitchFamily="34" charset="-120"/>
              </a:rPr>
              <a:t>02</a:t>
            </a:r>
            <a:endParaRPr lang="en-US" sz="1050" dirty="0"/>
          </a:p>
        </p:txBody>
      </p:sp>
      <p:pic>
        <p:nvPicPr>
          <p:cNvPr id="48" name="Picture 47">
            <a:extLst>
              <a:ext uri="{FF2B5EF4-FFF2-40B4-BE49-F238E27FC236}">
                <a16:creationId xmlns:a16="http://schemas.microsoft.com/office/drawing/2014/main" id="{33AADD84-43C7-1B52-CFD7-68C8753AB941}"/>
              </a:ext>
            </a:extLst>
          </p:cNvPr>
          <p:cNvPicPr>
            <a:picLocks noChangeAspect="1"/>
          </p:cNvPicPr>
          <p:nvPr/>
        </p:nvPicPr>
        <p:blipFill>
          <a:blip r:embed="rId4"/>
          <a:stretch>
            <a:fillRect/>
          </a:stretch>
        </p:blipFill>
        <p:spPr>
          <a:xfrm>
            <a:off x="10635528" y="6497043"/>
            <a:ext cx="1530429" cy="32386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609600"/>
            <a:ext cx="10972526" cy="466328"/>
          </a:xfrm>
          <a:prstGeom prst="rect">
            <a:avLst/>
          </a:prstGeom>
          <a:noFill/>
          <a:ln/>
        </p:spPr>
        <p:txBody>
          <a:bodyPr wrap="none" lIns="0" tIns="0" rIns="0" bIns="0" rtlCol="0" anchor="t"/>
          <a:lstStyle/>
          <a:p>
            <a:pPr marL="0" indent="0" algn="l">
              <a:lnSpc>
                <a:spcPct val="90000"/>
              </a:lnSpc>
              <a:buNone/>
            </a:pPr>
            <a:r>
              <a:rPr lang="en-US" sz="3400" kern="0" spc="-85" dirty="0">
                <a:solidFill>
                  <a:srgbClr val="0F1E26"/>
                </a:solidFill>
                <a:latin typeface="Geist Medium" pitchFamily="34" charset="0"/>
                <a:ea typeface="Geist Medium" pitchFamily="34" charset="-122"/>
                <a:cs typeface="Geist Medium" pitchFamily="34" charset="-120"/>
              </a:rPr>
              <a:t>Problem Statement</a:t>
            </a:r>
            <a:endParaRPr lang="en-US" sz="3400" dirty="0"/>
          </a:p>
        </p:txBody>
      </p:sp>
      <p:sp>
        <p:nvSpPr>
          <p:cNvPr id="3" name="Text 1"/>
          <p:cNvSpPr/>
          <p:nvPr/>
        </p:nvSpPr>
        <p:spPr>
          <a:xfrm>
            <a:off x="355592" y="1809075"/>
            <a:ext cx="7116781" cy="3021786"/>
          </a:xfrm>
          <a:prstGeom prst="rect">
            <a:avLst/>
          </a:prstGeom>
          <a:noFill/>
          <a:ln/>
        </p:spPr>
        <p:txBody>
          <a:bodyPr wrap="square" lIns="0" tIns="0" rIns="0" bIns="0" rtlCol="0" anchor="t">
            <a:noAutofit/>
          </a:bodyPr>
          <a:lstStyle/>
          <a:p>
            <a:pPr marL="284480" indent="-284480" algn="l">
              <a:lnSpc>
                <a:spcPct val="121000"/>
              </a:lnSpc>
              <a:buSzPct val="100000"/>
              <a:buChar char="•"/>
            </a:pPr>
            <a:r>
              <a:rPr lang="en-US" dirty="0">
                <a:solidFill>
                  <a:srgbClr val="2A3A43"/>
                </a:solidFill>
                <a:latin typeface="Geist" pitchFamily="34" charset="0"/>
                <a:ea typeface="Geist" pitchFamily="34" charset="-122"/>
                <a:cs typeface="Geist" pitchFamily="34" charset="-120"/>
              </a:rPr>
              <a:t>Scanning every document in a large multilingual collection can be inefficient.</a:t>
            </a:r>
            <a:endParaRPr lang="en-US" dirty="0"/>
          </a:p>
          <a:p>
            <a:pPr marL="284480" indent="-284480" algn="l">
              <a:lnSpc>
                <a:spcPct val="121000"/>
              </a:lnSpc>
              <a:buSzPct val="100000"/>
              <a:buChar char="•"/>
            </a:pPr>
            <a:r>
              <a:rPr lang="en-US" dirty="0">
                <a:solidFill>
                  <a:srgbClr val="2A3A43"/>
                </a:solidFill>
                <a:latin typeface="Geist" pitchFamily="34" charset="0"/>
                <a:ea typeface="Geist" pitchFamily="34" charset="-122"/>
                <a:cs typeface="Geist" pitchFamily="34" charset="-120"/>
              </a:rPr>
              <a:t>Indian-language content requires correct Unicode text handling.</a:t>
            </a:r>
            <a:endParaRPr lang="en-US" dirty="0"/>
          </a:p>
          <a:p>
            <a:pPr marL="284480" indent="-284480" algn="l">
              <a:lnSpc>
                <a:spcPct val="121000"/>
              </a:lnSpc>
              <a:buSzPct val="100000"/>
              <a:buChar char="•"/>
            </a:pPr>
            <a:r>
              <a:rPr lang="en-US" dirty="0">
                <a:solidFill>
                  <a:srgbClr val="2A3A43"/>
                </a:solidFill>
                <a:latin typeface="Geist" pitchFamily="34" charset="0"/>
                <a:ea typeface="Geist" pitchFamily="34" charset="-122"/>
                <a:cs typeface="Geist" pitchFamily="34" charset="-120"/>
              </a:rPr>
              <a:t>Users need relevant results rather than arbitrary document order.</a:t>
            </a:r>
            <a:endParaRPr lang="en-US" dirty="0"/>
          </a:p>
          <a:p>
            <a:pPr marL="284480" indent="-284480" algn="l">
              <a:lnSpc>
                <a:spcPct val="121000"/>
              </a:lnSpc>
              <a:buSzPct val="100000"/>
              <a:buChar char="•"/>
            </a:pPr>
            <a:r>
              <a:rPr lang="en-US" dirty="0">
                <a:solidFill>
                  <a:srgbClr val="2A3A43"/>
                </a:solidFill>
                <a:latin typeface="Geist" pitchFamily="34" charset="0"/>
                <a:ea typeface="Geist" pitchFamily="34" charset="-122"/>
                <a:cs typeface="Geist" pitchFamily="34" charset="-120"/>
              </a:rPr>
              <a:t>Prefix suggestions can improve the search experience.</a:t>
            </a:r>
            <a:endParaRPr lang="en-US" dirty="0"/>
          </a:p>
          <a:p>
            <a:pPr marL="284480" indent="-284480" algn="l">
              <a:lnSpc>
                <a:spcPct val="121000"/>
              </a:lnSpc>
              <a:buSzPct val="100000"/>
              <a:buChar char="•"/>
            </a:pPr>
            <a:r>
              <a:rPr lang="en-US" dirty="0">
                <a:solidFill>
                  <a:srgbClr val="2A3A43"/>
                </a:solidFill>
                <a:latin typeface="Geist" pitchFamily="34" charset="0"/>
                <a:ea typeface="Geist" pitchFamily="34" charset="-122"/>
                <a:cs typeface="Geist" pitchFamily="34" charset="-120"/>
              </a:rPr>
              <a:t>Indexing, retrieval, and ranking require suitable data structures and algorithms.</a:t>
            </a:r>
            <a:endParaRPr lang="en-US" dirty="0"/>
          </a:p>
        </p:txBody>
      </p:sp>
      <p:sp>
        <p:nvSpPr>
          <p:cNvPr id="4" name="Shape 2"/>
          <p:cNvSpPr/>
          <p:nvPr/>
        </p:nvSpPr>
        <p:spPr>
          <a:xfrm>
            <a:off x="7940476" y="1858764"/>
            <a:ext cx="3855743" cy="2337395"/>
          </a:xfrm>
          <a:prstGeom prst="rect">
            <a:avLst/>
          </a:prstGeom>
          <a:solidFill>
            <a:srgbClr val="E3ECEF"/>
          </a:solidFill>
          <a:ln/>
        </p:spPr>
        <p:txBody>
          <a:bodyPr/>
          <a:lstStyle/>
          <a:p>
            <a:endParaRPr lang="en-GB" dirty="0"/>
          </a:p>
        </p:txBody>
      </p:sp>
      <p:sp>
        <p:nvSpPr>
          <p:cNvPr id="5" name="Text 3"/>
          <p:cNvSpPr/>
          <p:nvPr/>
        </p:nvSpPr>
        <p:spPr>
          <a:xfrm>
            <a:off x="8194469" y="2034083"/>
            <a:ext cx="3601749" cy="181570"/>
          </a:xfrm>
          <a:prstGeom prst="rect">
            <a:avLst/>
          </a:prstGeom>
          <a:noFill/>
          <a:ln/>
        </p:spPr>
        <p:txBody>
          <a:bodyPr wrap="none" lIns="0" tIns="0" rIns="0" bIns="0" rtlCol="0" anchor="t"/>
          <a:lstStyle/>
          <a:p>
            <a:pPr marL="0" indent="0" algn="l">
              <a:lnSpc>
                <a:spcPct val="108000"/>
              </a:lnSpc>
              <a:buNone/>
            </a:pPr>
            <a:r>
              <a:rPr lang="en-US" sz="1100" kern="0" spc="88" dirty="0">
                <a:solidFill>
                  <a:srgbClr val="2A3A43"/>
                </a:solidFill>
                <a:latin typeface="Geist Mono Medium" pitchFamily="34" charset="0"/>
                <a:ea typeface="Geist Mono Medium" pitchFamily="34" charset="-122"/>
                <a:cs typeface="Geist Mono Medium" pitchFamily="34" charset="-120"/>
              </a:rPr>
              <a:t>DESIGN GOAL</a:t>
            </a:r>
            <a:endParaRPr lang="en-US" sz="1100" dirty="0"/>
          </a:p>
        </p:txBody>
      </p:sp>
      <p:sp>
        <p:nvSpPr>
          <p:cNvPr id="6" name="Text 4"/>
          <p:cNvSpPr/>
          <p:nvPr/>
        </p:nvSpPr>
        <p:spPr>
          <a:xfrm>
            <a:off x="8194469" y="2288679"/>
            <a:ext cx="3347755" cy="1524000"/>
          </a:xfrm>
          <a:prstGeom prst="rect">
            <a:avLst/>
          </a:prstGeom>
          <a:noFill/>
          <a:ln/>
        </p:spPr>
        <p:txBody>
          <a:bodyPr wrap="square" lIns="0" tIns="0" rIns="0" bIns="0" rtlCol="0" anchor="t">
            <a:normAutofit fontScale="92500"/>
          </a:bodyPr>
          <a:lstStyle/>
          <a:p>
            <a:pPr marL="0" indent="0" algn="l">
              <a:lnSpc>
                <a:spcPct val="100000"/>
              </a:lnSpc>
              <a:buNone/>
            </a:pPr>
            <a:r>
              <a:rPr lang="en-US" sz="2000" dirty="0">
                <a:solidFill>
                  <a:srgbClr val="2A3A43"/>
                </a:solidFill>
                <a:latin typeface="Geist SemiBold" pitchFamily="34" charset="0"/>
                <a:ea typeface="Geist SemiBold" pitchFamily="34" charset="-122"/>
                <a:cs typeface="Geist SemiBold" pitchFamily="34" charset="-120"/>
              </a:rPr>
              <a:t>Build an efficient keyword-based search system that demonstrates DSA techniques for multilingual Wikipedia search.</a:t>
            </a:r>
            <a:endParaRPr lang="en-US" sz="2000" dirty="0"/>
          </a:p>
        </p:txBody>
      </p:sp>
      <p:sp>
        <p:nvSpPr>
          <p:cNvPr id="7" name="Text 5"/>
          <p:cNvSpPr/>
          <p:nvPr/>
        </p:nvSpPr>
        <p:spPr>
          <a:xfrm>
            <a:off x="11400743" y="6456561"/>
            <a:ext cx="790952" cy="193278"/>
          </a:xfrm>
          <a:prstGeom prst="rect">
            <a:avLst/>
          </a:prstGeom>
          <a:noFill/>
          <a:ln/>
        </p:spPr>
        <p:txBody>
          <a:bodyPr wrap="none" lIns="0" tIns="0" rIns="0" bIns="0" rtlCol="0" anchor="ctr"/>
          <a:lstStyle/>
          <a:p>
            <a:pPr marL="0" indent="0" algn="l">
              <a:lnSpc>
                <a:spcPct val="121000"/>
              </a:lnSpc>
              <a:buNone/>
            </a:pPr>
            <a:r>
              <a:rPr lang="en-US" sz="1050" kern="0" spc="84" dirty="0">
                <a:solidFill>
                  <a:srgbClr val="55656E"/>
                </a:solidFill>
                <a:latin typeface="Geist Mono" pitchFamily="34" charset="0"/>
                <a:ea typeface="Geist Mono" pitchFamily="34" charset="-122"/>
                <a:cs typeface="Geist Mono" pitchFamily="34" charset="-120"/>
              </a:rPr>
              <a:t>03</a:t>
            </a:r>
            <a:endParaRPr lang="en-US" sz="1050" dirty="0"/>
          </a:p>
        </p:txBody>
      </p:sp>
      <p:pic>
        <p:nvPicPr>
          <p:cNvPr id="8" name="Picture 7">
            <a:extLst>
              <a:ext uri="{FF2B5EF4-FFF2-40B4-BE49-F238E27FC236}">
                <a16:creationId xmlns:a16="http://schemas.microsoft.com/office/drawing/2014/main" id="{F1DFD303-823F-EE15-1EB0-49BD516628EA}"/>
              </a:ext>
            </a:extLst>
          </p:cNvPr>
          <p:cNvPicPr>
            <a:picLocks noChangeAspect="1"/>
          </p:cNvPicPr>
          <p:nvPr/>
        </p:nvPicPr>
        <p:blipFill>
          <a:blip r:embed="rId3"/>
          <a:stretch>
            <a:fillRect/>
          </a:stretch>
        </p:blipFill>
        <p:spPr>
          <a:xfrm>
            <a:off x="10635528" y="6497043"/>
            <a:ext cx="1530429" cy="32386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marL="0" indent="0" algn="l">
              <a:lnSpc>
                <a:spcPct val="108000"/>
              </a:lnSpc>
              <a:buNone/>
            </a:pPr>
            <a:r>
              <a:rPr lang="en-US" sz="1100" kern="0" spc="88" dirty="0">
                <a:solidFill>
                  <a:srgbClr val="55656E"/>
                </a:solidFill>
                <a:latin typeface="Geist Mono Medium" pitchFamily="34" charset="0"/>
                <a:ea typeface="Geist Mono Medium" pitchFamily="34" charset="-122"/>
                <a:cs typeface="Geist Mono Medium" pitchFamily="34" charset="-120"/>
              </a:rPr>
              <a:t>SYSTEM CAPABILITIES</a:t>
            </a:r>
            <a:endParaRPr lang="en-US" sz="1100" dirty="0"/>
          </a:p>
        </p:txBody>
      </p:sp>
      <p:sp>
        <p:nvSpPr>
          <p:cNvPr id="3" name="Text 1"/>
          <p:cNvSpPr/>
          <p:nvPr/>
        </p:nvSpPr>
        <p:spPr>
          <a:xfrm>
            <a:off x="609585" y="864195"/>
            <a:ext cx="10972526" cy="466328"/>
          </a:xfrm>
          <a:prstGeom prst="rect">
            <a:avLst/>
          </a:prstGeom>
          <a:noFill/>
          <a:ln/>
        </p:spPr>
        <p:txBody>
          <a:bodyPr wrap="none" lIns="0" tIns="0" rIns="0" bIns="0" rtlCol="0" anchor="t"/>
          <a:lstStyle/>
          <a:p>
            <a:pPr marL="0" indent="0" algn="l">
              <a:lnSpc>
                <a:spcPct val="90000"/>
              </a:lnSpc>
              <a:buNone/>
            </a:pPr>
            <a:r>
              <a:rPr lang="en-US" sz="3400" kern="0" spc="-85" dirty="0">
                <a:solidFill>
                  <a:srgbClr val="0F1E26"/>
                </a:solidFill>
                <a:latin typeface="Geist Medium" pitchFamily="34" charset="0"/>
                <a:ea typeface="Geist Medium" pitchFamily="34" charset="-122"/>
                <a:cs typeface="Geist Medium" pitchFamily="34" charset="-120"/>
              </a:rPr>
              <a:t>Proposed Functionalities</a:t>
            </a:r>
            <a:endParaRPr lang="en-US" sz="3400" dirty="0"/>
          </a:p>
        </p:txBody>
      </p:sp>
      <p:sp>
        <p:nvSpPr>
          <p:cNvPr id="4" name="Text 2"/>
          <p:cNvSpPr/>
          <p:nvPr/>
        </p:nvSpPr>
        <p:spPr>
          <a:xfrm>
            <a:off x="609585" y="1540073"/>
            <a:ext cx="10972526" cy="280591"/>
          </a:xfrm>
          <a:prstGeom prst="rect">
            <a:avLst/>
          </a:prstGeom>
          <a:noFill/>
          <a:ln/>
        </p:spPr>
        <p:txBody>
          <a:bodyPr wrap="none" lIns="0" tIns="0" rIns="0" bIns="0" rtlCol="0" anchor="t"/>
          <a:lstStyle/>
          <a:p>
            <a:pPr marL="0" indent="0" algn="l">
              <a:lnSpc>
                <a:spcPct val="108000"/>
              </a:lnSpc>
              <a:buNone/>
            </a:pPr>
            <a:r>
              <a:rPr lang="en-US" sz="1700" kern="0" spc="-8" dirty="0">
                <a:solidFill>
                  <a:srgbClr val="55656E"/>
                </a:solidFill>
                <a:latin typeface="Geist" pitchFamily="34" charset="0"/>
                <a:ea typeface="Geist" pitchFamily="34" charset="-122"/>
                <a:cs typeface="Geist" pitchFamily="34" charset="-120"/>
              </a:rPr>
              <a:t>Eight cohesive capabilities bridging user inputs, linguistic processing, and algorithmic retrieval.</a:t>
            </a:r>
            <a:endParaRPr lang="en-US" sz="1700" dirty="0"/>
          </a:p>
        </p:txBody>
      </p:sp>
      <p:pic>
        <p:nvPicPr>
          <p:cNvPr id="5" name="Image 0" descr="preencoded.png"/>
          <p:cNvPicPr>
            <a:picLocks noChangeAspect="1"/>
          </p:cNvPicPr>
          <p:nvPr/>
        </p:nvPicPr>
        <p:blipFill>
          <a:blip r:embed="rId3"/>
          <a:stretch>
            <a:fillRect/>
          </a:stretch>
        </p:blipFill>
        <p:spPr>
          <a:xfrm>
            <a:off x="609585" y="2023864"/>
            <a:ext cx="444489" cy="444500"/>
          </a:xfrm>
          <a:prstGeom prst="rect">
            <a:avLst/>
          </a:prstGeom>
        </p:spPr>
      </p:pic>
      <p:sp>
        <p:nvSpPr>
          <p:cNvPr id="6" name="Text 3"/>
          <p:cNvSpPr/>
          <p:nvPr/>
        </p:nvSpPr>
        <p:spPr>
          <a:xfrm>
            <a:off x="609585" y="2573139"/>
            <a:ext cx="2590735"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Keyword Search</a:t>
            </a:r>
            <a:endParaRPr lang="en-US" sz="1500" dirty="0"/>
          </a:p>
        </p:txBody>
      </p:sp>
      <p:sp>
        <p:nvSpPr>
          <p:cNvPr id="7" name="Text 4"/>
          <p:cNvSpPr/>
          <p:nvPr/>
        </p:nvSpPr>
        <p:spPr>
          <a:xfrm>
            <a:off x="609585" y="2928739"/>
            <a:ext cx="2590735" cy="411361"/>
          </a:xfrm>
          <a:prstGeom prst="rect">
            <a:avLst/>
          </a:prstGeom>
          <a:noFill/>
          <a:ln/>
        </p:spPr>
        <p:txBody>
          <a:bodyPr wrap="square" lIns="0" tIns="0" rIns="0" bIns="0" rtlCol="0" anchor="t">
            <a:normAutofit/>
          </a:bodyPr>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Supports single and multi-term queries with boolean term matching.</a:t>
            </a:r>
            <a:endParaRPr lang="en-US" sz="1200" dirty="0"/>
          </a:p>
        </p:txBody>
      </p:sp>
      <p:pic>
        <p:nvPicPr>
          <p:cNvPr id="8" name="Image 1" descr="preencoded.png"/>
          <p:cNvPicPr>
            <a:picLocks noChangeAspect="1"/>
          </p:cNvPicPr>
          <p:nvPr/>
        </p:nvPicPr>
        <p:blipFill>
          <a:blip r:embed="rId4"/>
          <a:stretch>
            <a:fillRect/>
          </a:stretch>
        </p:blipFill>
        <p:spPr>
          <a:xfrm>
            <a:off x="3505112" y="2023864"/>
            <a:ext cx="444489" cy="444500"/>
          </a:xfrm>
          <a:prstGeom prst="rect">
            <a:avLst/>
          </a:prstGeom>
        </p:spPr>
      </p:pic>
      <p:sp>
        <p:nvSpPr>
          <p:cNvPr id="9" name="Text 5"/>
          <p:cNvSpPr/>
          <p:nvPr/>
        </p:nvSpPr>
        <p:spPr>
          <a:xfrm>
            <a:off x="3505112" y="2573139"/>
            <a:ext cx="2438339"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Indian-Language Support</a:t>
            </a:r>
            <a:endParaRPr lang="en-US" sz="1500" dirty="0"/>
          </a:p>
        </p:txBody>
      </p:sp>
      <p:sp>
        <p:nvSpPr>
          <p:cNvPr id="10" name="Text 6"/>
          <p:cNvSpPr/>
          <p:nvPr/>
        </p:nvSpPr>
        <p:spPr>
          <a:xfrm>
            <a:off x="3505112" y="2928739"/>
            <a:ext cx="2438339" cy="617041"/>
          </a:xfrm>
          <a:prstGeom prst="rect">
            <a:avLst/>
          </a:prstGeom>
          <a:noFill/>
          <a:ln/>
        </p:spPr>
        <p:txBody>
          <a:bodyPr wrap="square" lIns="0" tIns="0" rIns="0" bIns="0" rtlCol="0" anchor="t">
            <a:normAutofit/>
          </a:bodyPr>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Full Unicode UTF-8 support across Indian-language Wikipedia domains.</a:t>
            </a:r>
            <a:endParaRPr lang="en-US" sz="1200" dirty="0"/>
          </a:p>
        </p:txBody>
      </p:sp>
      <p:pic>
        <p:nvPicPr>
          <p:cNvPr id="11" name="Image 2" descr="preencoded.png"/>
          <p:cNvPicPr>
            <a:picLocks noChangeAspect="1"/>
          </p:cNvPicPr>
          <p:nvPr/>
        </p:nvPicPr>
        <p:blipFill>
          <a:blip r:embed="rId5"/>
          <a:stretch>
            <a:fillRect/>
          </a:stretch>
        </p:blipFill>
        <p:spPr>
          <a:xfrm>
            <a:off x="6248244" y="2023864"/>
            <a:ext cx="444489" cy="444500"/>
          </a:xfrm>
          <a:prstGeom prst="rect">
            <a:avLst/>
          </a:prstGeom>
        </p:spPr>
      </p:pic>
      <p:sp>
        <p:nvSpPr>
          <p:cNvPr id="12" name="Text 7"/>
          <p:cNvSpPr/>
          <p:nvPr/>
        </p:nvSpPr>
        <p:spPr>
          <a:xfrm>
            <a:off x="6248244" y="2573139"/>
            <a:ext cx="2438339"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Text Preprocessing</a:t>
            </a:r>
            <a:endParaRPr lang="en-US" sz="1500" dirty="0"/>
          </a:p>
        </p:txBody>
      </p:sp>
      <p:sp>
        <p:nvSpPr>
          <p:cNvPr id="13" name="Text 8"/>
          <p:cNvSpPr/>
          <p:nvPr/>
        </p:nvSpPr>
        <p:spPr>
          <a:xfrm>
            <a:off x="6248244" y="2928739"/>
            <a:ext cx="2438339" cy="617041"/>
          </a:xfrm>
          <a:prstGeom prst="rect">
            <a:avLst/>
          </a:prstGeom>
          <a:noFill/>
          <a:ln/>
        </p:spPr>
        <p:txBody>
          <a:bodyPr wrap="square" lIns="0" tIns="0" rIns="0" bIns="0" rtlCol="0" anchor="t">
            <a:normAutofit/>
          </a:bodyPr>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Normalizes script variants and tokenizes query text into clean search terms.</a:t>
            </a:r>
            <a:endParaRPr lang="en-US" sz="1200" dirty="0"/>
          </a:p>
        </p:txBody>
      </p:sp>
      <p:pic>
        <p:nvPicPr>
          <p:cNvPr id="14" name="Image 3" descr="preencoded.png"/>
          <p:cNvPicPr>
            <a:picLocks noChangeAspect="1"/>
          </p:cNvPicPr>
          <p:nvPr/>
        </p:nvPicPr>
        <p:blipFill>
          <a:blip r:embed="rId6"/>
          <a:stretch>
            <a:fillRect/>
          </a:stretch>
        </p:blipFill>
        <p:spPr>
          <a:xfrm>
            <a:off x="8991375" y="2023864"/>
            <a:ext cx="444489" cy="444500"/>
          </a:xfrm>
          <a:prstGeom prst="rect">
            <a:avLst/>
          </a:prstGeom>
        </p:spPr>
      </p:pic>
      <p:sp>
        <p:nvSpPr>
          <p:cNvPr id="15" name="Text 9"/>
          <p:cNvSpPr/>
          <p:nvPr/>
        </p:nvSpPr>
        <p:spPr>
          <a:xfrm>
            <a:off x="8991375" y="2573139"/>
            <a:ext cx="2590735"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Inverted Index Search</a:t>
            </a:r>
            <a:endParaRPr lang="en-US" sz="1500" dirty="0"/>
          </a:p>
        </p:txBody>
      </p:sp>
      <p:sp>
        <p:nvSpPr>
          <p:cNvPr id="16" name="Text 10"/>
          <p:cNvSpPr/>
          <p:nvPr/>
        </p:nvSpPr>
        <p:spPr>
          <a:xfrm>
            <a:off x="8991375" y="2928739"/>
            <a:ext cx="2590735" cy="411361"/>
          </a:xfrm>
          <a:prstGeom prst="rect">
            <a:avLst/>
          </a:prstGeom>
          <a:noFill/>
          <a:ln/>
        </p:spPr>
        <p:txBody>
          <a:bodyPr wrap="square" lIns="0" tIns="0" rIns="0" bIns="0" rtlCol="0" anchor="t">
            <a:normAutofit/>
          </a:bodyPr>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Maps individual tokens directly to matching candidate document IDs.</a:t>
            </a:r>
            <a:endParaRPr lang="en-US" sz="1200" dirty="0"/>
          </a:p>
        </p:txBody>
      </p:sp>
      <p:pic>
        <p:nvPicPr>
          <p:cNvPr id="17" name="Image 4" descr="preencoded.png"/>
          <p:cNvPicPr>
            <a:picLocks noChangeAspect="1"/>
          </p:cNvPicPr>
          <p:nvPr/>
        </p:nvPicPr>
        <p:blipFill>
          <a:blip r:embed="rId7"/>
          <a:stretch>
            <a:fillRect/>
          </a:stretch>
        </p:blipFill>
        <p:spPr>
          <a:xfrm>
            <a:off x="609585" y="3850580"/>
            <a:ext cx="444489" cy="444500"/>
          </a:xfrm>
          <a:prstGeom prst="rect">
            <a:avLst/>
          </a:prstGeom>
        </p:spPr>
      </p:pic>
      <p:sp>
        <p:nvSpPr>
          <p:cNvPr id="18" name="Text 11"/>
          <p:cNvSpPr/>
          <p:nvPr/>
        </p:nvSpPr>
        <p:spPr>
          <a:xfrm>
            <a:off x="609585" y="4399855"/>
            <a:ext cx="2590735"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Frequency-Based Ranking</a:t>
            </a:r>
            <a:endParaRPr lang="en-US" sz="1500" dirty="0"/>
          </a:p>
        </p:txBody>
      </p:sp>
      <p:sp>
        <p:nvSpPr>
          <p:cNvPr id="19" name="Text 12"/>
          <p:cNvSpPr/>
          <p:nvPr/>
        </p:nvSpPr>
        <p:spPr>
          <a:xfrm>
            <a:off x="609585" y="4755455"/>
            <a:ext cx="2590735" cy="617041"/>
          </a:xfrm>
          <a:prstGeom prst="rect">
            <a:avLst/>
          </a:prstGeom>
          <a:noFill/>
          <a:ln/>
        </p:spPr>
        <p:txBody>
          <a:bodyPr wrap="square" lIns="0" tIns="0" rIns="0" bIns="0" rtlCol="0" anchor="t">
            <a:normAutofit/>
          </a:bodyPr>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Computes term occurrence frequencies to prioritize the most relevant pages.</a:t>
            </a:r>
            <a:endParaRPr lang="en-US" sz="1200" dirty="0"/>
          </a:p>
        </p:txBody>
      </p:sp>
      <p:pic>
        <p:nvPicPr>
          <p:cNvPr id="20" name="Image 5" descr="preencoded.png"/>
          <p:cNvPicPr>
            <a:picLocks noChangeAspect="1"/>
          </p:cNvPicPr>
          <p:nvPr/>
        </p:nvPicPr>
        <p:blipFill>
          <a:blip r:embed="rId8"/>
          <a:stretch>
            <a:fillRect/>
          </a:stretch>
        </p:blipFill>
        <p:spPr>
          <a:xfrm>
            <a:off x="3505112" y="3850580"/>
            <a:ext cx="444489" cy="444500"/>
          </a:xfrm>
          <a:prstGeom prst="rect">
            <a:avLst/>
          </a:prstGeom>
        </p:spPr>
      </p:pic>
      <p:sp>
        <p:nvSpPr>
          <p:cNvPr id="21" name="Text 13"/>
          <p:cNvSpPr/>
          <p:nvPr/>
        </p:nvSpPr>
        <p:spPr>
          <a:xfrm>
            <a:off x="3505112" y="4399855"/>
            <a:ext cx="2438339"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Prefix Suggestions</a:t>
            </a:r>
            <a:endParaRPr lang="en-US" sz="1500" dirty="0"/>
          </a:p>
        </p:txBody>
      </p:sp>
      <p:sp>
        <p:nvSpPr>
          <p:cNvPr id="22" name="Text 14"/>
          <p:cNvSpPr/>
          <p:nvPr/>
        </p:nvSpPr>
        <p:spPr>
          <a:xfrm>
            <a:off x="3505112" y="4755455"/>
            <a:ext cx="2438339" cy="617041"/>
          </a:xfrm>
          <a:prstGeom prst="rect">
            <a:avLst/>
          </a:prstGeom>
          <a:noFill/>
          <a:ln/>
        </p:spPr>
        <p:txBody>
          <a:bodyPr wrap="square" lIns="0" tIns="0" rIns="0" bIns="0" rtlCol="0" anchor="t">
            <a:normAutofit/>
          </a:bodyPr>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Interactive autocomplete backed by a memory-efficient character Trie.</a:t>
            </a:r>
            <a:endParaRPr lang="en-US" sz="1200" dirty="0"/>
          </a:p>
        </p:txBody>
      </p:sp>
      <p:pic>
        <p:nvPicPr>
          <p:cNvPr id="23" name="Image 6" descr="preencoded.png"/>
          <p:cNvPicPr>
            <a:picLocks noChangeAspect="1"/>
          </p:cNvPicPr>
          <p:nvPr/>
        </p:nvPicPr>
        <p:blipFill>
          <a:blip r:embed="rId9"/>
          <a:stretch>
            <a:fillRect/>
          </a:stretch>
        </p:blipFill>
        <p:spPr>
          <a:xfrm>
            <a:off x="6248244" y="3850580"/>
            <a:ext cx="444489" cy="444500"/>
          </a:xfrm>
          <a:prstGeom prst="rect">
            <a:avLst/>
          </a:prstGeom>
        </p:spPr>
      </p:pic>
      <p:sp>
        <p:nvSpPr>
          <p:cNvPr id="24" name="Text 15"/>
          <p:cNvSpPr/>
          <p:nvPr/>
        </p:nvSpPr>
        <p:spPr>
          <a:xfrm>
            <a:off x="6248244" y="4399855"/>
            <a:ext cx="2438339"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Real-Time Metrics</a:t>
            </a:r>
            <a:endParaRPr lang="en-US" sz="1500" dirty="0"/>
          </a:p>
        </p:txBody>
      </p:sp>
      <p:sp>
        <p:nvSpPr>
          <p:cNvPr id="25" name="Text 16"/>
          <p:cNvSpPr/>
          <p:nvPr/>
        </p:nvSpPr>
        <p:spPr>
          <a:xfrm>
            <a:off x="6248244" y="4755455"/>
            <a:ext cx="2438339" cy="617041"/>
          </a:xfrm>
          <a:prstGeom prst="rect">
            <a:avLst/>
          </a:prstGeom>
          <a:noFill/>
          <a:ln/>
        </p:spPr>
        <p:txBody>
          <a:bodyPr wrap="square" lIns="0" tIns="0" rIns="0" bIns="0" rtlCol="0" anchor="t">
            <a:normAutofit/>
          </a:bodyPr>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Surfaces query latency, total documents matched, and indexed keys.</a:t>
            </a:r>
            <a:endParaRPr lang="en-US" sz="1200" dirty="0"/>
          </a:p>
        </p:txBody>
      </p:sp>
      <p:pic>
        <p:nvPicPr>
          <p:cNvPr id="26" name="Image 7" descr="preencoded.png"/>
          <p:cNvPicPr>
            <a:picLocks noChangeAspect="1"/>
          </p:cNvPicPr>
          <p:nvPr/>
        </p:nvPicPr>
        <p:blipFill>
          <a:blip r:embed="rId10"/>
          <a:stretch>
            <a:fillRect/>
          </a:stretch>
        </p:blipFill>
        <p:spPr>
          <a:xfrm>
            <a:off x="8991375" y="3850580"/>
            <a:ext cx="444489" cy="444500"/>
          </a:xfrm>
          <a:prstGeom prst="rect">
            <a:avLst/>
          </a:prstGeom>
        </p:spPr>
      </p:pic>
      <p:sp>
        <p:nvSpPr>
          <p:cNvPr id="27" name="Text 17"/>
          <p:cNvSpPr/>
          <p:nvPr/>
        </p:nvSpPr>
        <p:spPr>
          <a:xfrm>
            <a:off x="8991375" y="4399855"/>
            <a:ext cx="2590735"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Web Interface</a:t>
            </a:r>
            <a:endParaRPr lang="en-US" sz="1500" dirty="0"/>
          </a:p>
        </p:txBody>
      </p:sp>
      <p:sp>
        <p:nvSpPr>
          <p:cNvPr id="28" name="Text 18"/>
          <p:cNvSpPr/>
          <p:nvPr/>
        </p:nvSpPr>
        <p:spPr>
          <a:xfrm>
            <a:off x="8991375" y="4755455"/>
            <a:ext cx="2590735" cy="617041"/>
          </a:xfrm>
          <a:prstGeom prst="rect">
            <a:avLst/>
          </a:prstGeom>
          <a:noFill/>
          <a:ln/>
        </p:spPr>
        <p:txBody>
          <a:bodyPr wrap="square" lIns="0" tIns="0" rIns="0" bIns="0" rtlCol="0" anchor="t">
            <a:normAutofit/>
          </a:bodyPr>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Responsive UI to enter queries, toggle languages, and inspect ranked results.</a:t>
            </a:r>
            <a:endParaRPr lang="en-US" sz="1200" dirty="0"/>
          </a:p>
        </p:txBody>
      </p:sp>
      <p:sp>
        <p:nvSpPr>
          <p:cNvPr id="29" name="Text 19"/>
          <p:cNvSpPr/>
          <p:nvPr/>
        </p:nvSpPr>
        <p:spPr>
          <a:xfrm>
            <a:off x="609585" y="6059539"/>
            <a:ext cx="11582110" cy="179983"/>
          </a:xfrm>
          <a:prstGeom prst="rect">
            <a:avLst/>
          </a:prstGeom>
          <a:noFill/>
          <a:ln/>
        </p:spPr>
        <p:txBody>
          <a:bodyPr wrap="none" lIns="0" tIns="0" rIns="0" bIns="0" rtlCol="0" anchor="t"/>
          <a:lstStyle/>
          <a:p>
            <a:pPr marL="0" indent="0" algn="l">
              <a:lnSpc>
                <a:spcPct val="113000"/>
              </a:lnSpc>
              <a:buNone/>
            </a:pPr>
            <a:r>
              <a:rPr lang="en-US" sz="1050" kern="0" spc="84" dirty="0">
                <a:solidFill>
                  <a:srgbClr val="55656E"/>
                </a:solidFill>
                <a:latin typeface="Geist Mono" pitchFamily="34" charset="0"/>
                <a:ea typeface="Geist Mono" pitchFamily="34" charset="-122"/>
                <a:cs typeface="Geist Mono" pitchFamily="34" charset="-120"/>
              </a:rPr>
              <a:t>END-USER &amp; ALGORITHMIC CAPABILITIES IMPLEMENTED IN INDICSEARCH</a:t>
            </a:r>
            <a:endParaRPr lang="en-US" sz="1050" dirty="0"/>
          </a:p>
        </p:txBody>
      </p:sp>
      <p:sp>
        <p:nvSpPr>
          <p:cNvPr id="30" name="Text 20"/>
          <p:cNvSpPr/>
          <p:nvPr/>
        </p:nvSpPr>
        <p:spPr>
          <a:xfrm>
            <a:off x="11400743" y="6456561"/>
            <a:ext cx="790952" cy="193278"/>
          </a:xfrm>
          <a:prstGeom prst="rect">
            <a:avLst/>
          </a:prstGeom>
          <a:noFill/>
          <a:ln/>
        </p:spPr>
        <p:txBody>
          <a:bodyPr wrap="none" lIns="0" tIns="0" rIns="0" bIns="0" rtlCol="0" anchor="ctr"/>
          <a:lstStyle/>
          <a:p>
            <a:pPr marL="0" indent="0" algn="l">
              <a:lnSpc>
                <a:spcPct val="121000"/>
              </a:lnSpc>
              <a:buNone/>
            </a:pPr>
            <a:r>
              <a:rPr lang="en-US" sz="1050" kern="0" spc="84" dirty="0">
                <a:solidFill>
                  <a:srgbClr val="55656E"/>
                </a:solidFill>
                <a:latin typeface="Geist Mono" pitchFamily="34" charset="0"/>
                <a:ea typeface="Geist Mono" pitchFamily="34" charset="-122"/>
                <a:cs typeface="Geist Mono" pitchFamily="34" charset="-120"/>
              </a:rPr>
              <a:t>04</a:t>
            </a:r>
            <a:endParaRPr lang="en-US" sz="1050" dirty="0"/>
          </a:p>
        </p:txBody>
      </p:sp>
      <p:pic>
        <p:nvPicPr>
          <p:cNvPr id="31" name="Picture 30">
            <a:extLst>
              <a:ext uri="{FF2B5EF4-FFF2-40B4-BE49-F238E27FC236}">
                <a16:creationId xmlns:a16="http://schemas.microsoft.com/office/drawing/2014/main" id="{4A07FFB3-D5C1-296A-3530-D35C92B7FCBC}"/>
              </a:ext>
            </a:extLst>
          </p:cNvPr>
          <p:cNvPicPr>
            <a:picLocks noChangeAspect="1"/>
          </p:cNvPicPr>
          <p:nvPr/>
        </p:nvPicPr>
        <p:blipFill>
          <a:blip r:embed="rId11"/>
          <a:stretch>
            <a:fillRect/>
          </a:stretch>
        </p:blipFill>
        <p:spPr>
          <a:xfrm>
            <a:off x="10635528" y="6497043"/>
            <a:ext cx="1530429" cy="32386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760413"/>
            <a:ext cx="10972526" cy="466328"/>
          </a:xfrm>
          <a:prstGeom prst="rect">
            <a:avLst/>
          </a:prstGeom>
          <a:noFill/>
          <a:ln/>
        </p:spPr>
        <p:txBody>
          <a:bodyPr wrap="none" lIns="0" tIns="0" rIns="0" bIns="0" rtlCol="0" anchor="t"/>
          <a:lstStyle/>
          <a:p>
            <a:pPr marL="0" indent="0" algn="l">
              <a:lnSpc>
                <a:spcPct val="90000"/>
              </a:lnSpc>
              <a:buNone/>
            </a:pPr>
            <a:r>
              <a:rPr lang="en-US" sz="3400" kern="0" spc="-85" dirty="0">
                <a:solidFill>
                  <a:srgbClr val="0F1E26"/>
                </a:solidFill>
                <a:latin typeface="Geist Medium" pitchFamily="34" charset="0"/>
                <a:ea typeface="Geist Medium" pitchFamily="34" charset="-122"/>
                <a:cs typeface="Geist Medium" pitchFamily="34" charset="-120"/>
              </a:rPr>
              <a:t>Algorithms, Tools &amp; Technologies</a:t>
            </a:r>
            <a:endParaRPr lang="en-US" sz="3400" dirty="0"/>
          </a:p>
        </p:txBody>
      </p:sp>
      <p:sp>
        <p:nvSpPr>
          <p:cNvPr id="3" name="Text 1"/>
          <p:cNvSpPr/>
          <p:nvPr/>
        </p:nvSpPr>
        <p:spPr>
          <a:xfrm>
            <a:off x="609585" y="1379141"/>
            <a:ext cx="5486263" cy="181570"/>
          </a:xfrm>
          <a:prstGeom prst="rect">
            <a:avLst/>
          </a:prstGeom>
          <a:noFill/>
          <a:ln/>
        </p:spPr>
        <p:txBody>
          <a:bodyPr wrap="none" lIns="0" tIns="0" rIns="0" bIns="0" rtlCol="0" anchor="t"/>
          <a:lstStyle/>
          <a:p>
            <a:pPr marL="0" indent="0" algn="l">
              <a:lnSpc>
                <a:spcPct val="108000"/>
              </a:lnSpc>
              <a:buNone/>
            </a:pPr>
            <a:r>
              <a:rPr lang="en-US" sz="1100" kern="0" spc="88" dirty="0">
                <a:solidFill>
                  <a:srgbClr val="55656E"/>
                </a:solidFill>
                <a:latin typeface="Geist Mono Medium" pitchFamily="34" charset="0"/>
                <a:ea typeface="Geist Mono Medium" pitchFamily="34" charset="-122"/>
                <a:cs typeface="Geist Mono Medium" pitchFamily="34" charset="-120"/>
              </a:rPr>
              <a:t>DATA STRUCTURES &amp; ALGORITHMS</a:t>
            </a:r>
            <a:endParaRPr lang="en-US" sz="1100" dirty="0"/>
          </a:p>
        </p:txBody>
      </p:sp>
      <p:sp>
        <p:nvSpPr>
          <p:cNvPr id="4" name="Text 2"/>
          <p:cNvSpPr/>
          <p:nvPr/>
        </p:nvSpPr>
        <p:spPr>
          <a:xfrm>
            <a:off x="609585" y="1665486"/>
            <a:ext cx="5283068"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HashMap</a:t>
            </a:r>
            <a:endParaRPr lang="en-US" sz="1500" dirty="0"/>
          </a:p>
        </p:txBody>
      </p:sp>
      <p:sp>
        <p:nvSpPr>
          <p:cNvPr id="5" name="Text 3"/>
          <p:cNvSpPr/>
          <p:nvPr/>
        </p:nvSpPr>
        <p:spPr>
          <a:xfrm>
            <a:off x="609585" y="2021086"/>
            <a:ext cx="5283068" cy="205680"/>
          </a:xfrm>
          <a:prstGeom prst="rect">
            <a:avLst/>
          </a:prstGeom>
          <a:noFill/>
          <a:ln/>
        </p:spPr>
        <p:txBody>
          <a:bodyPr wrap="none" lIns="0" tIns="0" rIns="0" bIns="0" rtlCol="0" anchor="t"/>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Document storage and score management</a:t>
            </a:r>
            <a:endParaRPr lang="en-US" sz="1200" dirty="0"/>
          </a:p>
        </p:txBody>
      </p:sp>
      <p:sp>
        <p:nvSpPr>
          <p:cNvPr id="6" name="Text 4"/>
          <p:cNvSpPr/>
          <p:nvPr/>
        </p:nvSpPr>
        <p:spPr>
          <a:xfrm>
            <a:off x="609585" y="2633166"/>
            <a:ext cx="5283068"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Inverted Index</a:t>
            </a:r>
            <a:endParaRPr lang="en-US" sz="1500" dirty="0"/>
          </a:p>
        </p:txBody>
      </p:sp>
      <p:sp>
        <p:nvSpPr>
          <p:cNvPr id="7" name="Text 5"/>
          <p:cNvSpPr/>
          <p:nvPr/>
        </p:nvSpPr>
        <p:spPr>
          <a:xfrm>
            <a:off x="609585" y="2988766"/>
            <a:ext cx="5283068" cy="205680"/>
          </a:xfrm>
          <a:prstGeom prst="rect">
            <a:avLst/>
          </a:prstGeom>
          <a:noFill/>
          <a:ln/>
        </p:spPr>
        <p:txBody>
          <a:bodyPr wrap="none" lIns="0" tIns="0" rIns="0" bIns="0" rtlCol="0" anchor="t"/>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Keyword-to-document mapping</a:t>
            </a:r>
            <a:endParaRPr lang="en-US" sz="1200" dirty="0"/>
          </a:p>
        </p:txBody>
      </p:sp>
      <p:sp>
        <p:nvSpPr>
          <p:cNvPr id="8" name="Text 6"/>
          <p:cNvSpPr/>
          <p:nvPr/>
        </p:nvSpPr>
        <p:spPr>
          <a:xfrm>
            <a:off x="609585" y="3600847"/>
            <a:ext cx="5283068"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Trie</a:t>
            </a:r>
            <a:endParaRPr lang="en-US" sz="1500" dirty="0"/>
          </a:p>
        </p:txBody>
      </p:sp>
      <p:sp>
        <p:nvSpPr>
          <p:cNvPr id="9" name="Text 7"/>
          <p:cNvSpPr/>
          <p:nvPr/>
        </p:nvSpPr>
        <p:spPr>
          <a:xfrm>
            <a:off x="609585" y="3956447"/>
            <a:ext cx="5283068" cy="205680"/>
          </a:xfrm>
          <a:prstGeom prst="rect">
            <a:avLst/>
          </a:prstGeom>
          <a:noFill/>
          <a:ln/>
        </p:spPr>
        <p:txBody>
          <a:bodyPr wrap="none" lIns="0" tIns="0" rIns="0" bIns="0" rtlCol="0" anchor="t"/>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Prefix-based suggestions</a:t>
            </a:r>
            <a:endParaRPr lang="en-US" sz="1200" dirty="0"/>
          </a:p>
        </p:txBody>
      </p:sp>
      <p:sp>
        <p:nvSpPr>
          <p:cNvPr id="10" name="Text 8"/>
          <p:cNvSpPr/>
          <p:nvPr/>
        </p:nvSpPr>
        <p:spPr>
          <a:xfrm>
            <a:off x="609585" y="4568527"/>
            <a:ext cx="5283068"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Merge Sort</a:t>
            </a:r>
            <a:endParaRPr lang="en-US" sz="1500" dirty="0"/>
          </a:p>
        </p:txBody>
      </p:sp>
      <p:sp>
        <p:nvSpPr>
          <p:cNvPr id="11" name="Text 9"/>
          <p:cNvSpPr/>
          <p:nvPr/>
        </p:nvSpPr>
        <p:spPr>
          <a:xfrm>
            <a:off x="609585" y="4924127"/>
            <a:ext cx="5283068" cy="205680"/>
          </a:xfrm>
          <a:prstGeom prst="rect">
            <a:avLst/>
          </a:prstGeom>
          <a:noFill/>
          <a:ln/>
        </p:spPr>
        <p:txBody>
          <a:bodyPr wrap="none" lIns="0" tIns="0" rIns="0" bIns="0" rtlCol="0" anchor="t"/>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Ranking by frequency</a:t>
            </a:r>
            <a:endParaRPr lang="en-US" sz="1200" dirty="0"/>
          </a:p>
        </p:txBody>
      </p:sp>
      <p:sp>
        <p:nvSpPr>
          <p:cNvPr id="12" name="Text 10"/>
          <p:cNvSpPr/>
          <p:nvPr/>
        </p:nvSpPr>
        <p:spPr>
          <a:xfrm>
            <a:off x="609585" y="5536208"/>
            <a:ext cx="5283068"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Text preprocessing</a:t>
            </a:r>
            <a:endParaRPr lang="en-US" sz="1500" dirty="0"/>
          </a:p>
        </p:txBody>
      </p:sp>
      <p:sp>
        <p:nvSpPr>
          <p:cNvPr id="13" name="Text 11"/>
          <p:cNvSpPr/>
          <p:nvPr/>
        </p:nvSpPr>
        <p:spPr>
          <a:xfrm>
            <a:off x="609585" y="5891808"/>
            <a:ext cx="5283068" cy="205680"/>
          </a:xfrm>
          <a:prstGeom prst="rect">
            <a:avLst/>
          </a:prstGeom>
          <a:noFill/>
          <a:ln/>
        </p:spPr>
        <p:txBody>
          <a:bodyPr wrap="none" lIns="0" tIns="0" rIns="0" bIns="0" rtlCol="0" anchor="t"/>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Normalization and tokenization</a:t>
            </a:r>
            <a:endParaRPr lang="en-US" sz="1200" dirty="0"/>
          </a:p>
        </p:txBody>
      </p:sp>
      <p:sp>
        <p:nvSpPr>
          <p:cNvPr id="14" name="Text 12"/>
          <p:cNvSpPr/>
          <p:nvPr/>
        </p:nvSpPr>
        <p:spPr>
          <a:xfrm>
            <a:off x="6299042" y="1379141"/>
            <a:ext cx="5283068" cy="181570"/>
          </a:xfrm>
          <a:prstGeom prst="rect">
            <a:avLst/>
          </a:prstGeom>
          <a:noFill/>
          <a:ln/>
        </p:spPr>
        <p:txBody>
          <a:bodyPr wrap="none" lIns="0" tIns="0" rIns="0" bIns="0" rtlCol="0" anchor="t"/>
          <a:lstStyle/>
          <a:p>
            <a:pPr marL="0" indent="0" algn="l">
              <a:lnSpc>
                <a:spcPct val="108000"/>
              </a:lnSpc>
              <a:buNone/>
            </a:pPr>
            <a:r>
              <a:rPr lang="en-US" sz="1100" kern="0" spc="88" dirty="0">
                <a:solidFill>
                  <a:srgbClr val="55656E"/>
                </a:solidFill>
                <a:latin typeface="Geist Mono Medium" pitchFamily="34" charset="0"/>
                <a:ea typeface="Geist Mono Medium" pitchFamily="34" charset="-122"/>
                <a:cs typeface="Geist Mono Medium" pitchFamily="34" charset="-120"/>
              </a:rPr>
              <a:t>TOOLS &amp; TECHNOLOGIES</a:t>
            </a:r>
            <a:endParaRPr lang="en-US" sz="1100" dirty="0"/>
          </a:p>
        </p:txBody>
      </p:sp>
      <p:sp>
        <p:nvSpPr>
          <p:cNvPr id="15" name="Text 13"/>
          <p:cNvSpPr/>
          <p:nvPr/>
        </p:nvSpPr>
        <p:spPr>
          <a:xfrm>
            <a:off x="6299042" y="1665486"/>
            <a:ext cx="5283068" cy="411361"/>
          </a:xfrm>
          <a:prstGeom prst="rect">
            <a:avLst/>
          </a:prstGeom>
          <a:noFill/>
          <a:ln/>
        </p:spPr>
        <p:txBody>
          <a:bodyPr wrap="square" lIns="0" tIns="0" rIns="0" bIns="0" rtlCol="0" anchor="t">
            <a:normAutofit/>
          </a:bodyPr>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Java · HTML · CSS · JavaScript · Java HttpClient · Wikipedia MediaWiki API · VS Code</a:t>
            </a:r>
            <a:endParaRPr lang="en-US" sz="1200" dirty="0"/>
          </a:p>
        </p:txBody>
      </p:sp>
      <p:sp>
        <p:nvSpPr>
          <p:cNvPr id="16" name="Text 14"/>
          <p:cNvSpPr/>
          <p:nvPr/>
        </p:nvSpPr>
        <p:spPr>
          <a:xfrm>
            <a:off x="6299042" y="2483247"/>
            <a:ext cx="5283068"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Architecture</a:t>
            </a:r>
            <a:endParaRPr lang="en-US" sz="1500" dirty="0"/>
          </a:p>
        </p:txBody>
      </p:sp>
      <p:sp>
        <p:nvSpPr>
          <p:cNvPr id="17" name="Text 15"/>
          <p:cNvSpPr/>
          <p:nvPr/>
        </p:nvSpPr>
        <p:spPr>
          <a:xfrm>
            <a:off x="6299042" y="2838847"/>
            <a:ext cx="5283068" cy="411361"/>
          </a:xfrm>
          <a:prstGeom prst="rect">
            <a:avLst/>
          </a:prstGeom>
          <a:noFill/>
          <a:ln/>
        </p:spPr>
        <p:txBody>
          <a:bodyPr wrap="square" lIns="0" tIns="0" rIns="0" bIns="0" rtlCol="0" anchor="t">
            <a:normAutofit/>
          </a:bodyPr>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Frontend → Java API Server → Wikipedia API → DSA Search Engine → Ranked Results</a:t>
            </a:r>
            <a:endParaRPr lang="en-US" sz="1200" dirty="0"/>
          </a:p>
        </p:txBody>
      </p:sp>
      <p:sp>
        <p:nvSpPr>
          <p:cNvPr id="18" name="Text 16"/>
          <p:cNvSpPr/>
          <p:nvPr/>
        </p:nvSpPr>
        <p:spPr>
          <a:xfrm>
            <a:off x="6299042" y="3656608"/>
            <a:ext cx="5283068"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Text layer</a:t>
            </a:r>
            <a:endParaRPr lang="en-US" sz="1500" dirty="0"/>
          </a:p>
        </p:txBody>
      </p:sp>
      <p:sp>
        <p:nvSpPr>
          <p:cNvPr id="19" name="Text 17"/>
          <p:cNvSpPr/>
          <p:nvPr/>
        </p:nvSpPr>
        <p:spPr>
          <a:xfrm>
            <a:off x="6299042" y="4012208"/>
            <a:ext cx="5283068" cy="205680"/>
          </a:xfrm>
          <a:prstGeom prst="rect">
            <a:avLst/>
          </a:prstGeom>
          <a:noFill/>
          <a:ln/>
        </p:spPr>
        <p:txBody>
          <a:bodyPr wrap="none" lIns="0" tIns="0" rIns="0" bIns="0" rtlCol="0" anchor="t"/>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Unicode / UTF-8 support for Indian-language text</a:t>
            </a:r>
            <a:endParaRPr lang="en-US" sz="1200" dirty="0"/>
          </a:p>
        </p:txBody>
      </p:sp>
      <p:sp>
        <p:nvSpPr>
          <p:cNvPr id="20" name="Shape 18"/>
          <p:cNvSpPr/>
          <p:nvPr/>
        </p:nvSpPr>
        <p:spPr>
          <a:xfrm>
            <a:off x="609585" y="2423616"/>
            <a:ext cx="5283068" cy="12700"/>
          </a:xfrm>
          <a:prstGeom prst="rect">
            <a:avLst/>
          </a:prstGeom>
          <a:solidFill>
            <a:srgbClr val="C9D6DB"/>
          </a:solidFill>
          <a:ln/>
        </p:spPr>
      </p:sp>
      <p:sp>
        <p:nvSpPr>
          <p:cNvPr id="21" name="Shape 19"/>
          <p:cNvSpPr/>
          <p:nvPr/>
        </p:nvSpPr>
        <p:spPr>
          <a:xfrm>
            <a:off x="609585" y="3391297"/>
            <a:ext cx="5283068" cy="12700"/>
          </a:xfrm>
          <a:prstGeom prst="rect">
            <a:avLst/>
          </a:prstGeom>
          <a:solidFill>
            <a:srgbClr val="C9D6DB"/>
          </a:solidFill>
          <a:ln/>
        </p:spPr>
      </p:sp>
      <p:sp>
        <p:nvSpPr>
          <p:cNvPr id="22" name="Shape 20"/>
          <p:cNvSpPr/>
          <p:nvPr/>
        </p:nvSpPr>
        <p:spPr>
          <a:xfrm>
            <a:off x="609585" y="4358977"/>
            <a:ext cx="5283068" cy="12700"/>
          </a:xfrm>
          <a:prstGeom prst="rect">
            <a:avLst/>
          </a:prstGeom>
          <a:solidFill>
            <a:srgbClr val="C9D6DB"/>
          </a:solidFill>
          <a:ln/>
        </p:spPr>
      </p:sp>
      <p:sp>
        <p:nvSpPr>
          <p:cNvPr id="23" name="Shape 21"/>
          <p:cNvSpPr/>
          <p:nvPr/>
        </p:nvSpPr>
        <p:spPr>
          <a:xfrm>
            <a:off x="609585" y="5326658"/>
            <a:ext cx="5283068" cy="12700"/>
          </a:xfrm>
          <a:prstGeom prst="rect">
            <a:avLst/>
          </a:prstGeom>
          <a:solidFill>
            <a:srgbClr val="C9D6DB"/>
          </a:solidFill>
          <a:ln/>
        </p:spPr>
      </p:sp>
      <p:sp>
        <p:nvSpPr>
          <p:cNvPr id="24" name="Shape 22"/>
          <p:cNvSpPr/>
          <p:nvPr/>
        </p:nvSpPr>
        <p:spPr>
          <a:xfrm>
            <a:off x="6089498" y="1379141"/>
            <a:ext cx="12700" cy="4718348"/>
          </a:xfrm>
          <a:prstGeom prst="rect">
            <a:avLst/>
          </a:prstGeom>
          <a:solidFill>
            <a:srgbClr val="C9D6DB"/>
          </a:solidFill>
          <a:ln/>
        </p:spPr>
      </p:sp>
      <p:sp>
        <p:nvSpPr>
          <p:cNvPr id="25" name="Shape 23"/>
          <p:cNvSpPr/>
          <p:nvPr/>
        </p:nvSpPr>
        <p:spPr>
          <a:xfrm>
            <a:off x="6299042" y="2273697"/>
            <a:ext cx="5283068" cy="12700"/>
          </a:xfrm>
          <a:prstGeom prst="rect">
            <a:avLst/>
          </a:prstGeom>
          <a:solidFill>
            <a:srgbClr val="C9D6DB"/>
          </a:solidFill>
          <a:ln/>
        </p:spPr>
      </p:sp>
      <p:sp>
        <p:nvSpPr>
          <p:cNvPr id="26" name="Shape 24"/>
          <p:cNvSpPr/>
          <p:nvPr/>
        </p:nvSpPr>
        <p:spPr>
          <a:xfrm>
            <a:off x="6299042" y="3447058"/>
            <a:ext cx="5283068" cy="12700"/>
          </a:xfrm>
          <a:prstGeom prst="rect">
            <a:avLst/>
          </a:prstGeom>
          <a:solidFill>
            <a:srgbClr val="C9D6DB"/>
          </a:solidFill>
          <a:ln/>
        </p:spPr>
      </p:sp>
      <p:sp>
        <p:nvSpPr>
          <p:cNvPr id="27" name="Text 25"/>
          <p:cNvSpPr/>
          <p:nvPr/>
        </p:nvSpPr>
        <p:spPr>
          <a:xfrm>
            <a:off x="11400743" y="6456561"/>
            <a:ext cx="790952" cy="193278"/>
          </a:xfrm>
          <a:prstGeom prst="rect">
            <a:avLst/>
          </a:prstGeom>
          <a:noFill/>
          <a:ln/>
        </p:spPr>
        <p:txBody>
          <a:bodyPr wrap="none" lIns="0" tIns="0" rIns="0" bIns="0" rtlCol="0" anchor="ctr"/>
          <a:lstStyle/>
          <a:p>
            <a:pPr marL="0" indent="0" algn="l">
              <a:lnSpc>
                <a:spcPct val="121000"/>
              </a:lnSpc>
              <a:buNone/>
            </a:pPr>
            <a:r>
              <a:rPr lang="en-US" sz="1050" kern="0" spc="84" dirty="0">
                <a:solidFill>
                  <a:srgbClr val="55656E"/>
                </a:solidFill>
                <a:latin typeface="Geist Mono" pitchFamily="34" charset="0"/>
                <a:ea typeface="Geist Mono" pitchFamily="34" charset="-122"/>
                <a:cs typeface="Geist Mono" pitchFamily="34" charset="-120"/>
              </a:rPr>
              <a:t>05</a:t>
            </a:r>
            <a:endParaRPr lang="en-US" sz="1050" dirty="0"/>
          </a:p>
        </p:txBody>
      </p:sp>
      <p:pic>
        <p:nvPicPr>
          <p:cNvPr id="28" name="Picture 27">
            <a:extLst>
              <a:ext uri="{FF2B5EF4-FFF2-40B4-BE49-F238E27FC236}">
                <a16:creationId xmlns:a16="http://schemas.microsoft.com/office/drawing/2014/main" id="{9CFA5460-003A-89ED-8A52-6340A2A36A1A}"/>
              </a:ext>
            </a:extLst>
          </p:cNvPr>
          <p:cNvPicPr>
            <a:picLocks noChangeAspect="1"/>
          </p:cNvPicPr>
          <p:nvPr/>
        </p:nvPicPr>
        <p:blipFill>
          <a:blip r:embed="rId3"/>
          <a:stretch>
            <a:fillRect/>
          </a:stretch>
        </p:blipFill>
        <p:spPr>
          <a:xfrm>
            <a:off x="10635528" y="6497043"/>
            <a:ext cx="1530429" cy="32386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5" y="609600"/>
            <a:ext cx="11582110" cy="128687"/>
          </a:xfrm>
          <a:prstGeom prst="rect">
            <a:avLst/>
          </a:prstGeom>
          <a:noFill/>
          <a:ln/>
        </p:spPr>
        <p:txBody>
          <a:bodyPr wrap="none" lIns="0" tIns="0" rIns="0" bIns="0" rtlCol="0" anchor="t"/>
          <a:lstStyle/>
          <a:p>
            <a:pPr marL="0" indent="0" algn="l">
              <a:lnSpc>
                <a:spcPct val="108000"/>
              </a:lnSpc>
              <a:buNone/>
            </a:pPr>
            <a:r>
              <a:rPr lang="en-US" sz="800" kern="0" spc="62" dirty="0">
                <a:solidFill>
                  <a:srgbClr val="55656E"/>
                </a:solidFill>
                <a:latin typeface="Geist Mono Medium" pitchFamily="34" charset="0"/>
                <a:ea typeface="Geist Mono Medium" pitchFamily="34" charset="-122"/>
                <a:cs typeface="Geist Mono Medium" pitchFamily="34" charset="-120"/>
              </a:rPr>
              <a:t>PROJECT TARGETS</a:t>
            </a:r>
            <a:endParaRPr lang="en-US" sz="800" dirty="0"/>
          </a:p>
        </p:txBody>
      </p:sp>
      <p:sp>
        <p:nvSpPr>
          <p:cNvPr id="3" name="Text 1"/>
          <p:cNvSpPr/>
          <p:nvPr/>
        </p:nvSpPr>
        <p:spPr>
          <a:xfrm>
            <a:off x="609585" y="774998"/>
            <a:ext cx="10972526" cy="330597"/>
          </a:xfrm>
          <a:prstGeom prst="rect">
            <a:avLst/>
          </a:prstGeom>
          <a:noFill/>
          <a:ln/>
        </p:spPr>
        <p:txBody>
          <a:bodyPr wrap="none" lIns="0" tIns="0" rIns="0" bIns="0" rtlCol="0" anchor="t"/>
          <a:lstStyle/>
          <a:p>
            <a:pPr marL="0" indent="0" algn="l">
              <a:lnSpc>
                <a:spcPct val="90000"/>
              </a:lnSpc>
              <a:buNone/>
            </a:pPr>
            <a:r>
              <a:rPr lang="en-US" sz="2400" kern="0" spc="-60" dirty="0">
                <a:solidFill>
                  <a:srgbClr val="0F1E26"/>
                </a:solidFill>
                <a:latin typeface="Geist Medium" pitchFamily="34" charset="0"/>
                <a:ea typeface="Geist Medium" pitchFamily="34" charset="-122"/>
                <a:cs typeface="Geist Medium" pitchFamily="34" charset="-120"/>
              </a:rPr>
              <a:t>Objectives</a:t>
            </a:r>
            <a:endParaRPr lang="en-US" sz="2400" dirty="0"/>
          </a:p>
        </p:txBody>
      </p:sp>
      <p:sp>
        <p:nvSpPr>
          <p:cNvPr id="4" name="Text 2"/>
          <p:cNvSpPr/>
          <p:nvPr/>
        </p:nvSpPr>
        <p:spPr>
          <a:xfrm>
            <a:off x="609585" y="1236166"/>
            <a:ext cx="10972526" cy="198934"/>
          </a:xfrm>
          <a:prstGeom prst="rect">
            <a:avLst/>
          </a:prstGeom>
          <a:noFill/>
          <a:ln/>
        </p:spPr>
        <p:txBody>
          <a:bodyPr wrap="none" lIns="0" tIns="0" rIns="0" bIns="0" rtlCol="0" anchor="t"/>
          <a:lstStyle/>
          <a:p>
            <a:pPr marL="0" indent="0" algn="l">
              <a:lnSpc>
                <a:spcPct val="108000"/>
              </a:lnSpc>
              <a:buNone/>
            </a:pPr>
            <a:r>
              <a:rPr lang="en-US" sz="1200" kern="0" spc="-6" dirty="0">
                <a:solidFill>
                  <a:srgbClr val="55656E"/>
                </a:solidFill>
                <a:latin typeface="Geist" pitchFamily="34" charset="0"/>
                <a:ea typeface="Geist" pitchFamily="34" charset="-122"/>
                <a:cs typeface="Geist" pitchFamily="34" charset="-120"/>
              </a:rPr>
              <a:t>Eight benchmark milestones driving the implementation and evaluation of IndicSearch.</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3035170659"/>
              </p:ext>
            </p:extLst>
          </p:nvPr>
        </p:nvGraphicFramePr>
        <p:xfrm>
          <a:off x="609585" y="1591072"/>
          <a:ext cx="10972526" cy="5166306"/>
        </p:xfrm>
        <a:graphic>
          <a:graphicData uri="http://schemas.openxmlformats.org/drawingml/2006/table">
            <a:tbl>
              <a:tblPr/>
              <a:tblGrid>
                <a:gridCol w="1536154">
                  <a:extLst>
                    <a:ext uri="{9D8B030D-6E8A-4147-A177-3AD203B41FA5}">
                      <a16:colId xmlns:a16="http://schemas.microsoft.com/office/drawing/2014/main" val="20000"/>
                    </a:ext>
                  </a:extLst>
                </a:gridCol>
                <a:gridCol w="3950109">
                  <a:extLst>
                    <a:ext uri="{9D8B030D-6E8A-4147-A177-3AD203B41FA5}">
                      <a16:colId xmlns:a16="http://schemas.microsoft.com/office/drawing/2014/main" val="20001"/>
                    </a:ext>
                  </a:extLst>
                </a:gridCol>
                <a:gridCol w="3950109">
                  <a:extLst>
                    <a:ext uri="{9D8B030D-6E8A-4147-A177-3AD203B41FA5}">
                      <a16:colId xmlns:a16="http://schemas.microsoft.com/office/drawing/2014/main" val="20002"/>
                    </a:ext>
                  </a:extLst>
                </a:gridCol>
                <a:gridCol w="1536154">
                  <a:extLst>
                    <a:ext uri="{9D8B030D-6E8A-4147-A177-3AD203B41FA5}">
                      <a16:colId xmlns:a16="http://schemas.microsoft.com/office/drawing/2014/main" val="20003"/>
                    </a:ext>
                  </a:extLst>
                </a:gridCol>
              </a:tblGrid>
              <a:tr h="358369">
                <a:tc>
                  <a:txBody>
                    <a:bodyPr/>
                    <a:lstStyle/>
                    <a:p>
                      <a:pPr marL="0" indent="0" algn="l">
                        <a:buNone/>
                      </a:pPr>
                      <a:r>
                        <a:rPr lang="en-US" sz="1200" kern="0" spc="60" dirty="0">
                          <a:solidFill>
                            <a:srgbClr val="0F1E26"/>
                          </a:solidFill>
                          <a:latin typeface="Geist" pitchFamily="34" charset="0"/>
                          <a:ea typeface="Geist" pitchFamily="34" charset="-122"/>
                          <a:cs typeface="Geist" pitchFamily="34" charset="-120"/>
                        </a:rPr>
                        <a:t>TARGET</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F7FAFB"/>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kern="0" spc="60">
                          <a:solidFill>
                            <a:srgbClr val="0F1E26"/>
                          </a:solidFill>
                          <a:latin typeface="Geist" pitchFamily="34" charset="0"/>
                          <a:ea typeface="Geist" pitchFamily="34" charset="-122"/>
                          <a:cs typeface="Geist" pitchFamily="34" charset="-120"/>
                        </a:rPr>
                        <a:t>CORE OBJECTIVE</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F7FAFB"/>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kern="0" spc="60">
                          <a:solidFill>
                            <a:srgbClr val="0F1E26"/>
                          </a:solidFill>
                          <a:latin typeface="Geist" pitchFamily="34" charset="0"/>
                          <a:ea typeface="Geist" pitchFamily="34" charset="-122"/>
                          <a:cs typeface="Geist" pitchFamily="34" charset="-120"/>
                        </a:rPr>
                        <a:t>TECHNICAL IMPLEMENTATION &amp; SCOPE</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F7FAFB"/>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kern="0" spc="60">
                          <a:solidFill>
                            <a:srgbClr val="0F1E26"/>
                          </a:solidFill>
                          <a:latin typeface="Geist" pitchFamily="34" charset="0"/>
                          <a:ea typeface="Geist" pitchFamily="34" charset="-122"/>
                          <a:cs typeface="Geist" pitchFamily="34" charset="-120"/>
                        </a:rPr>
                        <a:t>CATEGORY</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F7FAFB"/>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extLst>
                  <a:ext uri="{0D108BD9-81ED-4DB2-BD59-A6C34878D82A}">
                    <a16:rowId xmlns:a16="http://schemas.microsoft.com/office/drawing/2014/main" val="10000"/>
                  </a:ext>
                </a:extLst>
              </a:tr>
              <a:tr h="588749">
                <a:tc>
                  <a:txBody>
                    <a:bodyPr/>
                    <a:lstStyle/>
                    <a:p>
                      <a:pPr marL="0" indent="0" algn="l">
                        <a:buNone/>
                      </a:pPr>
                      <a:r>
                        <a:rPr lang="en-US" sz="1200" b="1">
                          <a:solidFill>
                            <a:srgbClr val="2A3A43"/>
                          </a:solidFill>
                          <a:latin typeface="Geist" pitchFamily="34" charset="0"/>
                          <a:ea typeface="Geist" pitchFamily="34" charset="-122"/>
                          <a:cs typeface="Geist" pitchFamily="34" charset="-120"/>
                        </a:rPr>
                        <a:t>OBJ-01</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b="1">
                          <a:solidFill>
                            <a:srgbClr val="2A3A43"/>
                          </a:solidFill>
                          <a:latin typeface="Geist" pitchFamily="34" charset="0"/>
                          <a:ea typeface="Geist" pitchFamily="34" charset="-122"/>
                          <a:cs typeface="Geist" pitchFamily="34" charset="-120"/>
                        </a:rPr>
                        <a:t>DSA-based search engine</a:t>
                      </a:r>
                      <a:endParaRPr lang="en-US" sz="1200">
                        <a:latin typeface="Geist" charset="0"/>
                        <a:ea typeface="Geist" charset="0"/>
                        <a:cs typeface="Geist" charset="0"/>
                      </a:endParaRPr>
                    </a:p>
                    <a:p>
                      <a:pPr marL="0" indent="0" algn="l">
                        <a:buNone/>
                      </a:pPr>
                      <a:r>
                        <a:rPr lang="en-US" sz="1200" b="1">
                          <a:solidFill>
                            <a:srgbClr val="55656E"/>
                          </a:solidFill>
                          <a:latin typeface="Geist" pitchFamily="34" charset="0"/>
                          <a:ea typeface="Geist" pitchFamily="34" charset="-122"/>
                          <a:cs typeface="Geist" pitchFamily="34" charset="-120"/>
                        </a:rPr>
                        <a:t>Build an efficient keyword-based retrieval engine.</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a:solidFill>
                            <a:srgbClr val="2A3A43"/>
                          </a:solidFill>
                          <a:latin typeface="Geist" pitchFamily="34" charset="0"/>
                          <a:ea typeface="Geist" pitchFamily="34" charset="-122"/>
                          <a:cs typeface="Geist" pitchFamily="34" charset="-120"/>
                        </a:rPr>
                        <a:t>Custom in-memory index pipelines replacing linear file scanning.</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kern="0" spc="64">
                          <a:solidFill>
                            <a:srgbClr val="2A3A43"/>
                          </a:solidFill>
                          <a:latin typeface="Geist" pitchFamily="34" charset="0"/>
                          <a:ea typeface="Geist" pitchFamily="34" charset="-122"/>
                          <a:cs typeface="Geist" pitchFamily="34" charset="-120"/>
                        </a:rPr>
                        <a:t>CORE</a:t>
                      </a:r>
                      <a:endParaRPr lang="en-US" sz="1200" dirty="0">
                        <a:latin typeface="Geist Mono" charset="0"/>
                        <a:ea typeface="Geist Mono" charset="0"/>
                        <a:cs typeface="Geist Mono"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extLst>
                  <a:ext uri="{0D108BD9-81ED-4DB2-BD59-A6C34878D82A}">
                    <a16:rowId xmlns:a16="http://schemas.microsoft.com/office/drawing/2014/main" val="10001"/>
                  </a:ext>
                </a:extLst>
              </a:tr>
              <a:tr h="588749">
                <a:tc>
                  <a:txBody>
                    <a:bodyPr/>
                    <a:lstStyle/>
                    <a:p>
                      <a:pPr marL="0" indent="0" algn="l">
                        <a:buNone/>
                      </a:pPr>
                      <a:r>
                        <a:rPr lang="en-US" sz="1200" b="1">
                          <a:solidFill>
                            <a:srgbClr val="2A3A43"/>
                          </a:solidFill>
                          <a:latin typeface="Geist" pitchFamily="34" charset="0"/>
                          <a:ea typeface="Geist" pitchFamily="34" charset="-122"/>
                          <a:cs typeface="Geist" pitchFamily="34" charset="-120"/>
                        </a:rPr>
                        <a:t>OBJ-02</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b="1">
                          <a:solidFill>
                            <a:srgbClr val="2A3A43"/>
                          </a:solidFill>
                          <a:latin typeface="Geist" pitchFamily="34" charset="0"/>
                          <a:ea typeface="Geist" pitchFamily="34" charset="-122"/>
                          <a:cs typeface="Geist" pitchFamily="34" charset="-120"/>
                        </a:rPr>
                        <a:t>Indian-language Wikipedia search</a:t>
                      </a:r>
                      <a:endParaRPr lang="en-US" sz="1200">
                        <a:latin typeface="Geist" charset="0"/>
                        <a:ea typeface="Geist" charset="0"/>
                        <a:cs typeface="Geist" charset="0"/>
                      </a:endParaRPr>
                    </a:p>
                    <a:p>
                      <a:pPr marL="0" indent="0" algn="l">
                        <a:buNone/>
                      </a:pPr>
                      <a:r>
                        <a:rPr lang="en-US" sz="1200" b="1">
                          <a:solidFill>
                            <a:srgbClr val="55656E"/>
                          </a:solidFill>
                          <a:latin typeface="Geist" pitchFamily="34" charset="0"/>
                          <a:ea typeface="Geist" pitchFamily="34" charset="-122"/>
                          <a:cs typeface="Geist" pitchFamily="34" charset="-120"/>
                        </a:rPr>
                        <a:t>Support querying across diverse Indian languages.</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a:solidFill>
                            <a:srgbClr val="2A3A43"/>
                          </a:solidFill>
                          <a:latin typeface="Geist" pitchFamily="34" charset="0"/>
                          <a:ea typeface="Geist" pitchFamily="34" charset="-122"/>
                          <a:cs typeface="Geist" pitchFamily="34" charset="-120"/>
                        </a:rPr>
                        <a:t>Robust Unicode UTF-8 handling for scripts such as Hindi, Telugu, and Tamil.</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kern="0" spc="64">
                          <a:solidFill>
                            <a:srgbClr val="2A3A43"/>
                          </a:solidFill>
                          <a:latin typeface="Geist" pitchFamily="34" charset="0"/>
                          <a:ea typeface="Geist" pitchFamily="34" charset="-122"/>
                          <a:cs typeface="Geist" pitchFamily="34" charset="-120"/>
                        </a:rPr>
                        <a:t>LANGUAGE</a:t>
                      </a:r>
                      <a:endParaRPr lang="en-US" sz="1200" dirty="0">
                        <a:latin typeface="Geist Mono" charset="0"/>
                        <a:ea typeface="Geist Mono" charset="0"/>
                        <a:cs typeface="Geist Mono"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extLst>
                  <a:ext uri="{0D108BD9-81ED-4DB2-BD59-A6C34878D82A}">
                    <a16:rowId xmlns:a16="http://schemas.microsoft.com/office/drawing/2014/main" val="10002"/>
                  </a:ext>
                </a:extLst>
              </a:tr>
              <a:tr h="588749">
                <a:tc>
                  <a:txBody>
                    <a:bodyPr/>
                    <a:lstStyle/>
                    <a:p>
                      <a:pPr marL="0" indent="0" algn="l">
                        <a:buNone/>
                      </a:pPr>
                      <a:r>
                        <a:rPr lang="en-US" sz="1200" b="1">
                          <a:solidFill>
                            <a:srgbClr val="2A3A43"/>
                          </a:solidFill>
                          <a:latin typeface="Geist" pitchFamily="34" charset="0"/>
                          <a:ea typeface="Geist" pitchFamily="34" charset="-122"/>
                          <a:cs typeface="Geist" pitchFamily="34" charset="-120"/>
                        </a:rPr>
                        <a:t>OBJ-03</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b="1">
                          <a:solidFill>
                            <a:srgbClr val="2A3A43"/>
                          </a:solidFill>
                          <a:latin typeface="Geist" pitchFamily="34" charset="0"/>
                          <a:ea typeface="Geist" pitchFamily="34" charset="-122"/>
                          <a:cs typeface="Geist" pitchFamily="34" charset="-120"/>
                        </a:rPr>
                        <a:t>Inverted Index architecture</a:t>
                      </a:r>
                      <a:endParaRPr lang="en-US" sz="1200">
                        <a:latin typeface="Geist" charset="0"/>
                        <a:ea typeface="Geist" charset="0"/>
                        <a:cs typeface="Geist" charset="0"/>
                      </a:endParaRPr>
                    </a:p>
                    <a:p>
                      <a:pPr marL="0" indent="0" algn="l">
                        <a:buNone/>
                      </a:pPr>
                      <a:r>
                        <a:rPr lang="en-US" sz="1200" b="1">
                          <a:solidFill>
                            <a:srgbClr val="55656E"/>
                          </a:solidFill>
                          <a:latin typeface="Geist" pitchFamily="34" charset="0"/>
                          <a:ea typeface="Geist" pitchFamily="34" charset="-122"/>
                          <a:cs typeface="Geist" pitchFamily="34" charset="-120"/>
                        </a:rPr>
                        <a:t>Implement fast keyword-to-document mapping.</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a:solidFill>
                            <a:srgbClr val="2A3A43"/>
                          </a:solidFill>
                          <a:latin typeface="Geist" pitchFamily="34" charset="0"/>
                          <a:ea typeface="Geist" pitchFamily="34" charset="-122"/>
                          <a:cs typeface="Geist" pitchFamily="34" charset="-120"/>
                        </a:rPr>
                        <a:t>Posting list structures allowing instant candidate article identification.</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kern="0" spc="64">
                          <a:solidFill>
                            <a:srgbClr val="2A3A43"/>
                          </a:solidFill>
                          <a:latin typeface="Geist" pitchFamily="34" charset="0"/>
                          <a:ea typeface="Geist" pitchFamily="34" charset="-122"/>
                          <a:cs typeface="Geist" pitchFamily="34" charset="-120"/>
                        </a:rPr>
                        <a:t>INDEXING</a:t>
                      </a:r>
                      <a:endParaRPr lang="en-US" sz="1200" dirty="0">
                        <a:latin typeface="Geist Mono" charset="0"/>
                        <a:ea typeface="Geist Mono" charset="0"/>
                        <a:cs typeface="Geist Mono"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extLst>
                  <a:ext uri="{0D108BD9-81ED-4DB2-BD59-A6C34878D82A}">
                    <a16:rowId xmlns:a16="http://schemas.microsoft.com/office/drawing/2014/main" val="10003"/>
                  </a:ext>
                </a:extLst>
              </a:tr>
              <a:tr h="588749">
                <a:tc>
                  <a:txBody>
                    <a:bodyPr/>
                    <a:lstStyle/>
                    <a:p>
                      <a:pPr marL="0" indent="0" algn="l">
                        <a:buNone/>
                      </a:pPr>
                      <a:r>
                        <a:rPr lang="en-US" sz="1200" b="1">
                          <a:solidFill>
                            <a:srgbClr val="2A3A43"/>
                          </a:solidFill>
                          <a:latin typeface="Geist" pitchFamily="34" charset="0"/>
                          <a:ea typeface="Geist" pitchFamily="34" charset="-122"/>
                          <a:cs typeface="Geist" pitchFamily="34" charset="-120"/>
                        </a:rPr>
                        <a:t>OBJ-04</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b="1">
                          <a:solidFill>
                            <a:srgbClr val="2A3A43"/>
                          </a:solidFill>
                          <a:latin typeface="Geist" pitchFamily="34" charset="0"/>
                          <a:ea typeface="Geist" pitchFamily="34" charset="-122"/>
                          <a:cs typeface="Geist" pitchFamily="34" charset="-120"/>
                        </a:rPr>
                        <a:t>HashMap storage &amp; frequencies</a:t>
                      </a:r>
                      <a:endParaRPr lang="en-US" sz="1200">
                        <a:latin typeface="Geist" charset="0"/>
                        <a:ea typeface="Geist" charset="0"/>
                        <a:cs typeface="Geist" charset="0"/>
                      </a:endParaRPr>
                    </a:p>
                    <a:p>
                      <a:pPr marL="0" indent="0" algn="l">
                        <a:buNone/>
                      </a:pPr>
                      <a:r>
                        <a:rPr lang="en-US" sz="1200" b="1">
                          <a:solidFill>
                            <a:srgbClr val="55656E"/>
                          </a:solidFill>
                          <a:latin typeface="Geist" pitchFamily="34" charset="0"/>
                          <a:ea typeface="Geist" pitchFamily="34" charset="-122"/>
                          <a:cs typeface="Geist" pitchFamily="34" charset="-120"/>
                        </a:rPr>
                        <a:t>Efficient document caching and score tracking.</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a:solidFill>
                            <a:srgbClr val="2A3A43"/>
                          </a:solidFill>
                          <a:latin typeface="Geist" pitchFamily="34" charset="0"/>
                          <a:ea typeface="Geist" pitchFamily="34" charset="-122"/>
                          <a:cs typeface="Geist" pitchFamily="34" charset="-120"/>
                        </a:rPr>
                        <a:t>Average O(1) access for term occurrence counts and document metadata.</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kern="0" spc="64">
                          <a:solidFill>
                            <a:srgbClr val="2A3A43"/>
                          </a:solidFill>
                          <a:latin typeface="Geist" pitchFamily="34" charset="0"/>
                          <a:ea typeface="Geist" pitchFamily="34" charset="-122"/>
                          <a:cs typeface="Geist" pitchFamily="34" charset="-120"/>
                        </a:rPr>
                        <a:t>STORAGE</a:t>
                      </a:r>
                      <a:endParaRPr lang="en-US" sz="1200" dirty="0">
                        <a:latin typeface="Geist Mono" charset="0"/>
                        <a:ea typeface="Geist Mono" charset="0"/>
                        <a:cs typeface="Geist Mono"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extLst>
                  <a:ext uri="{0D108BD9-81ED-4DB2-BD59-A6C34878D82A}">
                    <a16:rowId xmlns:a16="http://schemas.microsoft.com/office/drawing/2014/main" val="10004"/>
                  </a:ext>
                </a:extLst>
              </a:tr>
              <a:tr h="588749">
                <a:tc>
                  <a:txBody>
                    <a:bodyPr/>
                    <a:lstStyle/>
                    <a:p>
                      <a:pPr marL="0" indent="0" algn="l">
                        <a:buNone/>
                      </a:pPr>
                      <a:r>
                        <a:rPr lang="en-US" sz="1200" b="1">
                          <a:solidFill>
                            <a:srgbClr val="2A3A43"/>
                          </a:solidFill>
                          <a:latin typeface="Geist" pitchFamily="34" charset="0"/>
                          <a:ea typeface="Geist" pitchFamily="34" charset="-122"/>
                          <a:cs typeface="Geist" pitchFamily="34" charset="-120"/>
                        </a:rPr>
                        <a:t>OBJ-05</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b="1">
                          <a:solidFill>
                            <a:srgbClr val="2A3A43"/>
                          </a:solidFill>
                          <a:latin typeface="Geist" pitchFamily="34" charset="0"/>
                          <a:ea typeface="Geist" pitchFamily="34" charset="-122"/>
                          <a:cs typeface="Geist" pitchFamily="34" charset="-120"/>
                        </a:rPr>
                        <a:t>Trie-based prefix suggestions</a:t>
                      </a:r>
                      <a:endParaRPr lang="en-US" sz="1200">
                        <a:latin typeface="Geist" charset="0"/>
                        <a:ea typeface="Geist" charset="0"/>
                        <a:cs typeface="Geist" charset="0"/>
                      </a:endParaRPr>
                    </a:p>
                    <a:p>
                      <a:pPr marL="0" indent="0" algn="l">
                        <a:buNone/>
                      </a:pPr>
                      <a:r>
                        <a:rPr lang="en-US" sz="1200" b="1">
                          <a:solidFill>
                            <a:srgbClr val="55656E"/>
                          </a:solidFill>
                          <a:latin typeface="Geist" pitchFamily="34" charset="0"/>
                          <a:ea typeface="Geist" pitchFamily="34" charset="-122"/>
                          <a:cs typeface="Geist" pitchFamily="34" charset="-120"/>
                        </a:rPr>
                        <a:t>Real-time autocomplete for vernacular keywords.</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a:solidFill>
                            <a:srgbClr val="2A3A43"/>
                          </a:solidFill>
                          <a:latin typeface="Geist" pitchFamily="34" charset="0"/>
                          <a:ea typeface="Geist" pitchFamily="34" charset="-122"/>
                          <a:cs typeface="Geist" pitchFamily="34" charset="-120"/>
                        </a:rPr>
                        <a:t>Character-level Trie traversal executing as user types in the search bar.</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kern="0" spc="64">
                          <a:solidFill>
                            <a:srgbClr val="2A3A43"/>
                          </a:solidFill>
                          <a:latin typeface="Geist" pitchFamily="34" charset="0"/>
                          <a:ea typeface="Geist" pitchFamily="34" charset="-122"/>
                          <a:cs typeface="Geist" pitchFamily="34" charset="-120"/>
                        </a:rPr>
                        <a:t>UX / DSA</a:t>
                      </a:r>
                      <a:endParaRPr lang="en-US" sz="1200" dirty="0">
                        <a:latin typeface="Geist Mono" charset="0"/>
                        <a:ea typeface="Geist Mono" charset="0"/>
                        <a:cs typeface="Geist Mono"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extLst>
                  <a:ext uri="{0D108BD9-81ED-4DB2-BD59-A6C34878D82A}">
                    <a16:rowId xmlns:a16="http://schemas.microsoft.com/office/drawing/2014/main" val="10005"/>
                  </a:ext>
                </a:extLst>
              </a:tr>
              <a:tr h="588749">
                <a:tc>
                  <a:txBody>
                    <a:bodyPr/>
                    <a:lstStyle/>
                    <a:p>
                      <a:pPr marL="0" indent="0" algn="l">
                        <a:buNone/>
                      </a:pPr>
                      <a:r>
                        <a:rPr lang="en-US" sz="1200" b="1">
                          <a:solidFill>
                            <a:srgbClr val="2A3A43"/>
                          </a:solidFill>
                          <a:latin typeface="Geist" pitchFamily="34" charset="0"/>
                          <a:ea typeface="Geist" pitchFamily="34" charset="-122"/>
                          <a:cs typeface="Geist" pitchFamily="34" charset="-120"/>
                        </a:rPr>
                        <a:t>OBJ-06</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b="1">
                          <a:solidFill>
                            <a:srgbClr val="2A3A43"/>
                          </a:solidFill>
                          <a:latin typeface="Geist" pitchFamily="34" charset="0"/>
                          <a:ea typeface="Geist" pitchFamily="34" charset="-122"/>
                          <a:cs typeface="Geist" pitchFamily="34" charset="-120"/>
                        </a:rPr>
                        <a:t>Merge Sort frequency ranking</a:t>
                      </a:r>
                      <a:endParaRPr lang="en-US" sz="1200">
                        <a:latin typeface="Geist" charset="0"/>
                        <a:ea typeface="Geist" charset="0"/>
                        <a:cs typeface="Geist" charset="0"/>
                      </a:endParaRPr>
                    </a:p>
                    <a:p>
                      <a:pPr marL="0" indent="0" algn="l">
                        <a:buNone/>
                      </a:pPr>
                      <a:r>
                        <a:rPr lang="en-US" sz="1200" b="1">
                          <a:solidFill>
                            <a:srgbClr val="55656E"/>
                          </a:solidFill>
                          <a:latin typeface="Geist" pitchFamily="34" charset="0"/>
                          <a:ea typeface="Geist" pitchFamily="34" charset="-122"/>
                          <a:cs typeface="Geist" pitchFamily="34" charset="-120"/>
                        </a:rPr>
                        <a:t>Order retrieved articles by keyword relevance.</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a:solidFill>
                            <a:srgbClr val="2A3A43"/>
                          </a:solidFill>
                          <a:latin typeface="Geist" pitchFamily="34" charset="0"/>
                          <a:ea typeface="Geist" pitchFamily="34" charset="-122"/>
                          <a:cs typeface="Geist" pitchFamily="34" charset="-120"/>
                        </a:rPr>
                        <a:t>Guaranteed O(n \log n) divide-and-conquer sorting by match frequency.</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kern="0" spc="64">
                          <a:solidFill>
                            <a:srgbClr val="2A3A43"/>
                          </a:solidFill>
                          <a:latin typeface="Geist" pitchFamily="34" charset="0"/>
                          <a:ea typeface="Geist" pitchFamily="34" charset="-122"/>
                          <a:cs typeface="Geist" pitchFamily="34" charset="-120"/>
                        </a:rPr>
                        <a:t>ALGORITHM</a:t>
                      </a:r>
                      <a:endParaRPr lang="en-US" sz="1200" dirty="0">
                        <a:latin typeface="Geist Mono" charset="0"/>
                        <a:ea typeface="Geist Mono" charset="0"/>
                        <a:cs typeface="Geist Mono"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extLst>
                  <a:ext uri="{0D108BD9-81ED-4DB2-BD59-A6C34878D82A}">
                    <a16:rowId xmlns:a16="http://schemas.microsoft.com/office/drawing/2014/main" val="10006"/>
                  </a:ext>
                </a:extLst>
              </a:tr>
              <a:tr h="588749">
                <a:tc>
                  <a:txBody>
                    <a:bodyPr/>
                    <a:lstStyle/>
                    <a:p>
                      <a:pPr marL="0" indent="0" algn="l">
                        <a:buNone/>
                      </a:pPr>
                      <a:r>
                        <a:rPr lang="en-US" sz="1200" b="1">
                          <a:solidFill>
                            <a:srgbClr val="2A3A43"/>
                          </a:solidFill>
                          <a:latin typeface="Geist" pitchFamily="34" charset="0"/>
                          <a:ea typeface="Geist" pitchFamily="34" charset="-122"/>
                          <a:cs typeface="Geist" pitchFamily="34" charset="-120"/>
                        </a:rPr>
                        <a:t>OBJ-07</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b="1">
                          <a:solidFill>
                            <a:srgbClr val="2A3A43"/>
                          </a:solidFill>
                          <a:latin typeface="Geist" pitchFamily="34" charset="0"/>
                          <a:ea typeface="Geist" pitchFamily="34" charset="-122"/>
                          <a:cs typeface="Geist" pitchFamily="34" charset="-120"/>
                        </a:rPr>
                        <a:t>Interactive web interface</a:t>
                      </a:r>
                      <a:endParaRPr lang="en-US" sz="1200">
                        <a:latin typeface="Geist" charset="0"/>
                        <a:ea typeface="Geist" charset="0"/>
                        <a:cs typeface="Geist" charset="0"/>
                      </a:endParaRPr>
                    </a:p>
                    <a:p>
                      <a:pPr marL="0" indent="0" algn="l">
                        <a:buNone/>
                      </a:pPr>
                      <a:r>
                        <a:rPr lang="en-US" sz="1200" b="1">
                          <a:solidFill>
                            <a:srgbClr val="55656E"/>
                          </a:solidFill>
                          <a:latin typeface="Geist" pitchFamily="34" charset="0"/>
                          <a:ea typeface="Geist" pitchFamily="34" charset="-122"/>
                          <a:cs typeface="Geist" pitchFamily="34" charset="-120"/>
                        </a:rPr>
                        <a:t>Provide an accessible, responsive search UI.</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a:solidFill>
                            <a:srgbClr val="2A3A43"/>
                          </a:solidFill>
                          <a:latin typeface="Geist" pitchFamily="34" charset="0"/>
                          <a:ea typeface="Geist" pitchFamily="34" charset="-122"/>
                          <a:cs typeface="Geist" pitchFamily="34" charset="-120"/>
                        </a:rPr>
                        <a:t>Intuitive query submission, real-time metrics, and snippet preview cards.</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kern="0" spc="64">
                          <a:solidFill>
                            <a:srgbClr val="2A3A43"/>
                          </a:solidFill>
                          <a:latin typeface="Geist" pitchFamily="34" charset="0"/>
                          <a:ea typeface="Geist" pitchFamily="34" charset="-122"/>
                          <a:cs typeface="Geist" pitchFamily="34" charset="-120"/>
                        </a:rPr>
                        <a:t>INTERFACE</a:t>
                      </a:r>
                      <a:endParaRPr lang="en-US" sz="1200" dirty="0">
                        <a:latin typeface="Geist Mono" charset="0"/>
                        <a:ea typeface="Geist Mono" charset="0"/>
                        <a:cs typeface="Geist Mono"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extLst>
                  <a:ext uri="{0D108BD9-81ED-4DB2-BD59-A6C34878D82A}">
                    <a16:rowId xmlns:a16="http://schemas.microsoft.com/office/drawing/2014/main" val="10007"/>
                  </a:ext>
                </a:extLst>
              </a:tr>
              <a:tr h="582400">
                <a:tc>
                  <a:txBody>
                    <a:bodyPr/>
                    <a:lstStyle/>
                    <a:p>
                      <a:pPr marL="0" indent="0" algn="l">
                        <a:buNone/>
                      </a:pPr>
                      <a:r>
                        <a:rPr lang="en-US" sz="1200" b="1">
                          <a:solidFill>
                            <a:srgbClr val="2A3A43"/>
                          </a:solidFill>
                          <a:latin typeface="Geist" pitchFamily="34" charset="0"/>
                          <a:ea typeface="Geist" pitchFamily="34" charset="-122"/>
                          <a:cs typeface="Geist" pitchFamily="34" charset="-120"/>
                        </a:rPr>
                        <a:t>OBJ-08</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F7FAFB"/>
                      </a:solidFill>
                      <a:prstDash val="solid"/>
                      <a:round/>
                      <a:headEnd type="none" w="med" len="med"/>
                      <a:tailEnd type="none" w="med" len="med"/>
                    </a:lnB>
                  </a:tcPr>
                </a:tc>
                <a:tc>
                  <a:txBody>
                    <a:bodyPr/>
                    <a:lstStyle/>
                    <a:p>
                      <a:pPr marL="0" indent="0" algn="l">
                        <a:buNone/>
                      </a:pPr>
                      <a:r>
                        <a:rPr lang="en-US" sz="1200" b="1" dirty="0">
                          <a:solidFill>
                            <a:srgbClr val="2A3A43"/>
                          </a:solidFill>
                          <a:latin typeface="Geist" pitchFamily="34" charset="0"/>
                          <a:ea typeface="Geist" pitchFamily="34" charset="-122"/>
                          <a:cs typeface="Geist" pitchFamily="34" charset="-120"/>
                        </a:rPr>
                        <a:t>Real-world DSA demonstration</a:t>
                      </a:r>
                      <a:endParaRPr lang="en-US" sz="1200" dirty="0">
                        <a:latin typeface="Geist" charset="0"/>
                        <a:ea typeface="Geist" charset="0"/>
                        <a:cs typeface="Geist" charset="0"/>
                      </a:endParaRPr>
                    </a:p>
                    <a:p>
                      <a:pPr marL="0" indent="0" algn="l">
                        <a:buNone/>
                      </a:pPr>
                      <a:r>
                        <a:rPr lang="en-US" sz="1200" b="1" dirty="0">
                          <a:solidFill>
                            <a:srgbClr val="55656E"/>
                          </a:solidFill>
                          <a:latin typeface="Geist" pitchFamily="34" charset="0"/>
                          <a:ea typeface="Geist" pitchFamily="34" charset="-122"/>
                          <a:cs typeface="Geist" pitchFamily="34" charset="-120"/>
                        </a:rPr>
                        <a:t>Prove textbook concepts on live web APIs.</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F7FAFB"/>
                      </a:solidFill>
                      <a:prstDash val="solid"/>
                      <a:round/>
                      <a:headEnd type="none" w="med" len="med"/>
                      <a:tailEnd type="none" w="med" len="med"/>
                    </a:lnB>
                  </a:tcPr>
                </a:tc>
                <a:tc>
                  <a:txBody>
                    <a:bodyPr/>
                    <a:lstStyle/>
                    <a:p>
                      <a:pPr marL="0" indent="0" algn="l">
                        <a:buNone/>
                      </a:pPr>
                      <a:r>
                        <a:rPr lang="en-US" sz="1200">
                          <a:solidFill>
                            <a:srgbClr val="2A3A43"/>
                          </a:solidFill>
                          <a:latin typeface="Geist" pitchFamily="34" charset="0"/>
                          <a:ea typeface="Geist" pitchFamily="34" charset="-122"/>
                          <a:cs typeface="Geist" pitchFamily="34" charset="-120"/>
                        </a:rPr>
                        <a:t>Integration of theoretical data structures with live Wikipedia MediaWiki API.</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F7FAFB"/>
                      </a:solidFill>
                      <a:prstDash val="solid"/>
                      <a:round/>
                      <a:headEnd type="none" w="med" len="med"/>
                      <a:tailEnd type="none" w="med" len="med"/>
                    </a:lnB>
                  </a:tcPr>
                </a:tc>
                <a:tc>
                  <a:txBody>
                    <a:bodyPr/>
                    <a:lstStyle/>
                    <a:p>
                      <a:pPr marL="0" indent="0" algn="l">
                        <a:buNone/>
                      </a:pPr>
                      <a:r>
                        <a:rPr lang="en-US" sz="1200" kern="0" spc="64" dirty="0">
                          <a:solidFill>
                            <a:srgbClr val="2A3A43"/>
                          </a:solidFill>
                          <a:latin typeface="Geist" pitchFamily="34" charset="0"/>
                          <a:ea typeface="Geist" pitchFamily="34" charset="-122"/>
                          <a:cs typeface="Geist" pitchFamily="34" charset="-120"/>
                        </a:rPr>
                        <a:t>PRACTICAL</a:t>
                      </a:r>
                      <a:endParaRPr lang="en-US" sz="1200" dirty="0">
                        <a:latin typeface="Geist Mono" charset="0"/>
                        <a:ea typeface="Geist Mono" charset="0"/>
                        <a:cs typeface="Geist Mono"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F7FAFB"/>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5" name="Text 4"/>
          <p:cNvSpPr/>
          <p:nvPr/>
        </p:nvSpPr>
        <p:spPr>
          <a:xfrm>
            <a:off x="11400743" y="6456561"/>
            <a:ext cx="790952" cy="193278"/>
          </a:xfrm>
          <a:prstGeom prst="rect">
            <a:avLst/>
          </a:prstGeom>
          <a:noFill/>
          <a:ln/>
        </p:spPr>
        <p:txBody>
          <a:bodyPr wrap="none" lIns="0" tIns="0" rIns="0" bIns="0" rtlCol="0" anchor="ctr"/>
          <a:lstStyle/>
          <a:p>
            <a:pPr marL="0" indent="0" algn="l">
              <a:lnSpc>
                <a:spcPct val="121000"/>
              </a:lnSpc>
              <a:buNone/>
            </a:pPr>
            <a:r>
              <a:rPr lang="en-US" sz="1050" kern="0" spc="84" dirty="0">
                <a:solidFill>
                  <a:srgbClr val="55656E"/>
                </a:solidFill>
                <a:latin typeface="Geist Mono" pitchFamily="34" charset="0"/>
                <a:ea typeface="Geist Mono" pitchFamily="34" charset="-122"/>
                <a:cs typeface="Geist Mono" pitchFamily="34" charset="-120"/>
              </a:rPr>
              <a:t>06</a:t>
            </a:r>
            <a:endParaRPr lang="en-US" sz="1050" dirty="0"/>
          </a:p>
        </p:txBody>
      </p:sp>
      <p:pic>
        <p:nvPicPr>
          <p:cNvPr id="8" name="Picture 7">
            <a:extLst>
              <a:ext uri="{FF2B5EF4-FFF2-40B4-BE49-F238E27FC236}">
                <a16:creationId xmlns:a16="http://schemas.microsoft.com/office/drawing/2014/main" id="{824071D1-FC91-81A6-FB78-6EAC2CDE4636}"/>
              </a:ext>
            </a:extLst>
          </p:cNvPr>
          <p:cNvPicPr>
            <a:picLocks noChangeAspect="1"/>
          </p:cNvPicPr>
          <p:nvPr/>
        </p:nvPicPr>
        <p:blipFill>
          <a:blip r:embed="rId3"/>
          <a:stretch>
            <a:fillRect/>
          </a:stretch>
        </p:blipFill>
        <p:spPr>
          <a:xfrm>
            <a:off x="11121689" y="6456562"/>
            <a:ext cx="978575" cy="35009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marL="0" indent="0" algn="l">
              <a:lnSpc>
                <a:spcPct val="108000"/>
              </a:lnSpc>
              <a:buNone/>
            </a:pPr>
            <a:r>
              <a:rPr lang="en-US" sz="1100" kern="0" spc="88" dirty="0">
                <a:solidFill>
                  <a:srgbClr val="55656E"/>
                </a:solidFill>
                <a:latin typeface="Geist Mono Medium" pitchFamily="34" charset="0"/>
                <a:ea typeface="Geist Mono Medium" pitchFamily="34" charset="-122"/>
                <a:cs typeface="Geist Mono Medium" pitchFamily="34" charset="-120"/>
              </a:rPr>
              <a:t>EXECUTION ARCHITECTURE</a:t>
            </a:r>
            <a:endParaRPr lang="en-US" sz="1100" dirty="0"/>
          </a:p>
        </p:txBody>
      </p:sp>
      <p:sp>
        <p:nvSpPr>
          <p:cNvPr id="3" name="Text 1"/>
          <p:cNvSpPr/>
          <p:nvPr/>
        </p:nvSpPr>
        <p:spPr>
          <a:xfrm>
            <a:off x="609585" y="954386"/>
            <a:ext cx="10972526" cy="466328"/>
          </a:xfrm>
          <a:prstGeom prst="rect">
            <a:avLst/>
          </a:prstGeom>
          <a:noFill/>
          <a:ln/>
        </p:spPr>
        <p:txBody>
          <a:bodyPr wrap="none" lIns="0" tIns="0" rIns="0" bIns="0" rtlCol="0" anchor="t"/>
          <a:lstStyle/>
          <a:p>
            <a:pPr marL="0" indent="0" algn="l">
              <a:lnSpc>
                <a:spcPct val="90000"/>
              </a:lnSpc>
              <a:buNone/>
            </a:pPr>
            <a:r>
              <a:rPr lang="en-US" sz="3400" kern="0" spc="-85" dirty="0">
                <a:solidFill>
                  <a:srgbClr val="0F1E26"/>
                </a:solidFill>
                <a:latin typeface="Geist Medium" pitchFamily="34" charset="0"/>
                <a:ea typeface="Geist Medium" pitchFamily="34" charset="-122"/>
                <a:cs typeface="Geist Medium" pitchFamily="34" charset="-120"/>
              </a:rPr>
              <a:t>System Flow</a:t>
            </a:r>
            <a:endParaRPr lang="en-US" sz="3400" dirty="0"/>
          </a:p>
        </p:txBody>
      </p:sp>
      <p:sp>
        <p:nvSpPr>
          <p:cNvPr id="4" name="Text 2"/>
          <p:cNvSpPr/>
          <p:nvPr/>
        </p:nvSpPr>
        <p:spPr>
          <a:xfrm>
            <a:off x="609585" y="1540073"/>
            <a:ext cx="10972526" cy="280591"/>
          </a:xfrm>
          <a:prstGeom prst="rect">
            <a:avLst/>
          </a:prstGeom>
          <a:noFill/>
          <a:ln/>
        </p:spPr>
        <p:txBody>
          <a:bodyPr wrap="none" lIns="0" tIns="0" rIns="0" bIns="0" rtlCol="0" anchor="t"/>
          <a:lstStyle/>
          <a:p>
            <a:pPr marL="0" indent="0" algn="l">
              <a:lnSpc>
                <a:spcPct val="108000"/>
              </a:lnSpc>
              <a:buNone/>
            </a:pPr>
            <a:r>
              <a:rPr lang="en-US" sz="1700" kern="0" spc="-8" dirty="0">
                <a:solidFill>
                  <a:srgbClr val="55656E"/>
                </a:solidFill>
                <a:latin typeface="Geist" pitchFamily="34" charset="0"/>
                <a:ea typeface="Geist" pitchFamily="34" charset="-122"/>
                <a:cs typeface="Geist" pitchFamily="34" charset="-120"/>
              </a:rPr>
              <a:t>Step-by-step query lifecycle alongside the concurrent Trie suggestion side-flow.</a:t>
            </a:r>
            <a:endParaRPr lang="en-US" sz="1700" dirty="0"/>
          </a:p>
        </p:txBody>
      </p:sp>
      <p:sp>
        <p:nvSpPr>
          <p:cNvPr id="5" name="Text 3"/>
          <p:cNvSpPr/>
          <p:nvPr/>
        </p:nvSpPr>
        <p:spPr>
          <a:xfrm>
            <a:off x="609585" y="2252464"/>
            <a:ext cx="7904064" cy="3846495"/>
          </a:xfrm>
          <a:prstGeom prst="rect">
            <a:avLst/>
          </a:prstGeom>
          <a:noFill/>
          <a:ln/>
        </p:spPr>
        <p:txBody>
          <a:bodyPr wrap="square" lIns="0" tIns="0" rIns="0" bIns="0" rtlCol="0" anchor="t">
            <a:noAutofit/>
          </a:bodyPr>
          <a:lstStyle/>
          <a:p>
            <a:pPr marL="284480" indent="-284480" algn="l">
              <a:lnSpc>
                <a:spcPct val="121000"/>
              </a:lnSpc>
              <a:buSzPct val="100000"/>
              <a:buFont typeface="+mj-lt"/>
              <a:buAutoNum type="arabicPeriod"/>
            </a:pPr>
            <a:r>
              <a:rPr lang="en-US" sz="1900" b="1" dirty="0">
                <a:solidFill>
                  <a:srgbClr val="2A3A43"/>
                </a:solidFill>
                <a:latin typeface="Geist Bold" pitchFamily="34" charset="0"/>
                <a:ea typeface="Geist Bold" pitchFamily="34" charset="-122"/>
                <a:cs typeface="Geist Bold" pitchFamily="34" charset="-120"/>
              </a:rPr>
              <a:t>User:</a:t>
            </a:r>
            <a:r>
              <a:rPr lang="en-US" sz="1900" dirty="0">
                <a:solidFill>
                  <a:srgbClr val="2A3A43"/>
                </a:solidFill>
                <a:latin typeface="Geist" pitchFamily="34" charset="0"/>
                <a:ea typeface="Geist" pitchFamily="34" charset="-122"/>
                <a:cs typeface="Geist" pitchFamily="34" charset="-120"/>
              </a:rPr>
              <a:t> enter keyword or query</a:t>
            </a:r>
            <a:endParaRPr lang="en-US" sz="1900" dirty="0"/>
          </a:p>
          <a:p>
            <a:pPr marL="284480" indent="-284480" algn="l">
              <a:lnSpc>
                <a:spcPct val="121000"/>
              </a:lnSpc>
              <a:buSzPct val="100000"/>
              <a:buFont typeface="+mj-lt"/>
              <a:buAutoNum type="arabicPeriod" startAt="2"/>
            </a:pPr>
            <a:r>
              <a:rPr lang="en-US" sz="1900" dirty="0">
                <a:solidFill>
                  <a:srgbClr val="2A3A43"/>
                </a:solidFill>
                <a:latin typeface="Geist" pitchFamily="34" charset="0"/>
                <a:ea typeface="Geist" pitchFamily="34" charset="-122"/>
                <a:cs typeface="Geist" pitchFamily="34" charset="-120"/>
              </a:rPr>
              <a:t>Select language</a:t>
            </a:r>
            <a:endParaRPr lang="en-US" sz="1900" dirty="0"/>
          </a:p>
          <a:p>
            <a:pPr marL="284480" indent="-284480" algn="l">
              <a:lnSpc>
                <a:spcPct val="121000"/>
              </a:lnSpc>
              <a:buSzPct val="100000"/>
              <a:buFont typeface="+mj-lt"/>
              <a:buAutoNum type="arabicPeriod" startAt="3"/>
            </a:pPr>
            <a:r>
              <a:rPr lang="en-US" sz="1900" b="1" dirty="0">
                <a:solidFill>
                  <a:srgbClr val="2A3A43"/>
                </a:solidFill>
                <a:latin typeface="Geist Bold" pitchFamily="34" charset="0"/>
                <a:ea typeface="Geist Bold" pitchFamily="34" charset="-122"/>
                <a:cs typeface="Geist Bold" pitchFamily="34" charset="-120"/>
              </a:rPr>
              <a:t>Text preprocessing:</a:t>
            </a:r>
            <a:r>
              <a:rPr lang="en-US" sz="1900" dirty="0">
                <a:solidFill>
                  <a:srgbClr val="2A3A43"/>
                </a:solidFill>
                <a:latin typeface="Geist" pitchFamily="34" charset="0"/>
                <a:ea typeface="Geist" pitchFamily="34" charset="-122"/>
                <a:cs typeface="Geist" pitchFamily="34" charset="-120"/>
              </a:rPr>
              <a:t> normalization + tokenization</a:t>
            </a:r>
            <a:endParaRPr lang="en-US" sz="1900" dirty="0"/>
          </a:p>
          <a:p>
            <a:pPr marL="284480" indent="-284480" algn="l">
              <a:lnSpc>
                <a:spcPct val="121000"/>
              </a:lnSpc>
              <a:buSzPct val="100000"/>
              <a:buFont typeface="+mj-lt"/>
              <a:buAutoNum type="arabicPeriod" startAt="4"/>
            </a:pPr>
            <a:r>
              <a:rPr lang="en-US" sz="1900" b="1" dirty="0">
                <a:solidFill>
                  <a:srgbClr val="2A3A43"/>
                </a:solidFill>
                <a:latin typeface="Geist Bold" pitchFamily="34" charset="0"/>
                <a:ea typeface="Geist Bold" pitchFamily="34" charset="-122"/>
                <a:cs typeface="Geist Bold" pitchFamily="34" charset="-120"/>
              </a:rPr>
              <a:t>Wikipedia Search API:</a:t>
            </a:r>
            <a:r>
              <a:rPr lang="en-US" sz="1900" dirty="0">
                <a:solidFill>
                  <a:srgbClr val="2A3A43"/>
                </a:solidFill>
                <a:latin typeface="Geist" pitchFamily="34" charset="0"/>
                <a:ea typeface="Geist" pitchFamily="34" charset="-122"/>
                <a:cs typeface="Geist" pitchFamily="34" charset="-120"/>
              </a:rPr>
              <a:t> retrieve candidate documents</a:t>
            </a:r>
            <a:endParaRPr lang="en-US" sz="1900" dirty="0"/>
          </a:p>
          <a:p>
            <a:pPr marL="284480" indent="-284480" algn="l">
              <a:lnSpc>
                <a:spcPct val="121000"/>
              </a:lnSpc>
              <a:buSzPct val="100000"/>
              <a:buFont typeface="+mj-lt"/>
              <a:buAutoNum type="arabicPeriod" startAt="5"/>
            </a:pPr>
            <a:r>
              <a:rPr lang="en-US" sz="1900" b="1" dirty="0">
                <a:solidFill>
                  <a:srgbClr val="2A3A43"/>
                </a:solidFill>
                <a:latin typeface="Geist Bold" pitchFamily="34" charset="0"/>
                <a:ea typeface="Geist Bold" pitchFamily="34" charset="-122"/>
                <a:cs typeface="Geist Bold" pitchFamily="34" charset="-120"/>
              </a:rPr>
              <a:t>HashMap:</a:t>
            </a:r>
            <a:r>
              <a:rPr lang="en-US" sz="1900" dirty="0">
                <a:solidFill>
                  <a:srgbClr val="2A3A43"/>
                </a:solidFill>
                <a:latin typeface="Geist" pitchFamily="34" charset="0"/>
                <a:ea typeface="Geist" pitchFamily="34" charset="-122"/>
                <a:cs typeface="Geist" pitchFamily="34" charset="-120"/>
              </a:rPr>
              <a:t> store documents</a:t>
            </a:r>
            <a:endParaRPr lang="en-US" sz="1900" dirty="0"/>
          </a:p>
          <a:p>
            <a:pPr marL="284480" indent="-284480" algn="l">
              <a:lnSpc>
                <a:spcPct val="121000"/>
              </a:lnSpc>
              <a:buSzPct val="100000"/>
              <a:buFont typeface="+mj-lt"/>
              <a:buAutoNum type="arabicPeriod" startAt="6"/>
            </a:pPr>
            <a:r>
              <a:rPr lang="en-US" sz="1900" b="1" dirty="0">
                <a:solidFill>
                  <a:srgbClr val="2A3A43"/>
                </a:solidFill>
                <a:latin typeface="Geist Bold" pitchFamily="34" charset="0"/>
                <a:ea typeface="Geist Bold" pitchFamily="34" charset="-122"/>
                <a:cs typeface="Geist Bold" pitchFamily="34" charset="-120"/>
              </a:rPr>
              <a:t>Inverted Index:</a:t>
            </a:r>
            <a:r>
              <a:rPr lang="en-US" sz="1900" dirty="0">
                <a:solidFill>
                  <a:srgbClr val="2A3A43"/>
                </a:solidFill>
                <a:latin typeface="Geist" pitchFamily="34" charset="0"/>
                <a:ea typeface="Geist" pitchFamily="34" charset="-122"/>
                <a:cs typeface="Geist" pitchFamily="34" charset="-120"/>
              </a:rPr>
              <a:t> build or apply keyword mapping</a:t>
            </a:r>
            <a:endParaRPr lang="en-US" sz="1900" dirty="0"/>
          </a:p>
          <a:p>
            <a:pPr marL="284480" indent="-284480" algn="l">
              <a:lnSpc>
                <a:spcPct val="121000"/>
              </a:lnSpc>
              <a:buSzPct val="100000"/>
              <a:buFont typeface="+mj-lt"/>
              <a:buAutoNum type="arabicPeriod" startAt="7"/>
            </a:pPr>
            <a:r>
              <a:rPr lang="en-US" sz="1900" dirty="0">
                <a:solidFill>
                  <a:srgbClr val="2A3A43"/>
                </a:solidFill>
                <a:latin typeface="Geist" pitchFamily="34" charset="0"/>
                <a:ea typeface="Geist" pitchFamily="34" charset="-122"/>
                <a:cs typeface="Geist" pitchFamily="34" charset="-120"/>
              </a:rPr>
              <a:t>Match keyword frequency and calculate document scores</a:t>
            </a:r>
            <a:endParaRPr lang="en-US" sz="1900" dirty="0"/>
          </a:p>
          <a:p>
            <a:pPr marL="284480" indent="-284480" algn="l">
              <a:lnSpc>
                <a:spcPct val="121000"/>
              </a:lnSpc>
              <a:buSzPct val="100000"/>
              <a:buFont typeface="+mj-lt"/>
              <a:buAutoNum type="arabicPeriod" startAt="8"/>
            </a:pPr>
            <a:r>
              <a:rPr lang="en-US" sz="1900" b="1" dirty="0">
                <a:solidFill>
                  <a:srgbClr val="2A3A43"/>
                </a:solidFill>
                <a:latin typeface="Geist Bold" pitchFamily="34" charset="0"/>
                <a:ea typeface="Geist Bold" pitchFamily="34" charset="-122"/>
                <a:cs typeface="Geist Bold" pitchFamily="34" charset="-120"/>
              </a:rPr>
              <a:t>Merge Sort:</a:t>
            </a:r>
            <a:r>
              <a:rPr lang="en-US" sz="1900" dirty="0">
                <a:solidFill>
                  <a:srgbClr val="2A3A43"/>
                </a:solidFill>
                <a:latin typeface="Geist" pitchFamily="34" charset="0"/>
                <a:ea typeface="Geist" pitchFamily="34" charset="-122"/>
                <a:cs typeface="Geist" pitchFamily="34" charset="-120"/>
              </a:rPr>
              <a:t> rank results</a:t>
            </a:r>
            <a:endParaRPr lang="en-US" sz="1900" dirty="0"/>
          </a:p>
          <a:p>
            <a:pPr marL="284480" indent="-284480" algn="l">
              <a:lnSpc>
                <a:spcPct val="121000"/>
              </a:lnSpc>
              <a:buSzPct val="100000"/>
              <a:buFont typeface="+mj-lt"/>
              <a:buAutoNum type="arabicPeriod" startAt="9"/>
            </a:pPr>
            <a:r>
              <a:rPr lang="en-US" sz="1900" dirty="0">
                <a:solidFill>
                  <a:srgbClr val="2A3A43"/>
                </a:solidFill>
                <a:latin typeface="Geist" pitchFamily="34" charset="0"/>
                <a:ea typeface="Geist" pitchFamily="34" charset="-122"/>
                <a:cs typeface="Geist" pitchFamily="34" charset="-120"/>
              </a:rPr>
              <a:t>Display results</a:t>
            </a:r>
            <a:endParaRPr lang="en-US" sz="1900" dirty="0"/>
          </a:p>
          <a:p>
            <a:pPr marL="284480" indent="-284480" algn="l">
              <a:lnSpc>
                <a:spcPct val="121000"/>
              </a:lnSpc>
              <a:buSzPct val="100000"/>
              <a:buFont typeface="+mj-lt"/>
              <a:buAutoNum type="arabicPeriod" startAt="10"/>
            </a:pPr>
            <a:r>
              <a:rPr lang="en-US" sz="1900" b="1" dirty="0">
                <a:solidFill>
                  <a:srgbClr val="2A3A43"/>
                </a:solidFill>
                <a:latin typeface="Geist Bold" pitchFamily="34" charset="0"/>
                <a:ea typeface="Geist Bold" pitchFamily="34" charset="-122"/>
                <a:cs typeface="Geist Bold" pitchFamily="34" charset="-120"/>
              </a:rPr>
              <a:t>Trie:</a:t>
            </a:r>
            <a:r>
              <a:rPr lang="en-US" sz="1900" dirty="0">
                <a:solidFill>
                  <a:srgbClr val="2A3A43"/>
                </a:solidFill>
                <a:latin typeface="Geist" pitchFamily="34" charset="0"/>
                <a:ea typeface="Geist" pitchFamily="34" charset="-122"/>
                <a:cs typeface="Geist" pitchFamily="34" charset="-120"/>
              </a:rPr>
              <a:t> provide search suggestions</a:t>
            </a:r>
            <a:endParaRPr lang="en-US" sz="1900" dirty="0"/>
          </a:p>
        </p:txBody>
      </p:sp>
      <p:sp>
        <p:nvSpPr>
          <p:cNvPr id="6" name="Shape 4"/>
          <p:cNvSpPr/>
          <p:nvPr/>
        </p:nvSpPr>
        <p:spPr>
          <a:xfrm>
            <a:off x="8789371" y="2468661"/>
            <a:ext cx="2611372" cy="3434953"/>
          </a:xfrm>
          <a:prstGeom prst="rect">
            <a:avLst/>
          </a:prstGeom>
          <a:solidFill>
            <a:srgbClr val="E3ECEF"/>
          </a:solidFill>
          <a:ln/>
        </p:spPr>
        <p:txBody>
          <a:bodyPr/>
          <a:lstStyle/>
          <a:p>
            <a:endParaRPr lang="en-GB" dirty="0"/>
          </a:p>
        </p:txBody>
      </p:sp>
      <p:sp>
        <p:nvSpPr>
          <p:cNvPr id="7" name="Text 5"/>
          <p:cNvSpPr/>
          <p:nvPr/>
        </p:nvSpPr>
        <p:spPr>
          <a:xfrm>
            <a:off x="9017965" y="2697261"/>
            <a:ext cx="2382778" cy="181570"/>
          </a:xfrm>
          <a:prstGeom prst="rect">
            <a:avLst/>
          </a:prstGeom>
          <a:noFill/>
          <a:ln/>
        </p:spPr>
        <p:txBody>
          <a:bodyPr wrap="none" lIns="0" tIns="0" rIns="0" bIns="0" rtlCol="0" anchor="t"/>
          <a:lstStyle/>
          <a:p>
            <a:pPr marL="0" indent="0" algn="l">
              <a:lnSpc>
                <a:spcPct val="108000"/>
              </a:lnSpc>
              <a:buNone/>
            </a:pPr>
            <a:r>
              <a:rPr lang="en-US" sz="1100" kern="0" spc="88" dirty="0">
                <a:solidFill>
                  <a:srgbClr val="000000"/>
                </a:solidFill>
                <a:latin typeface="Geist Mono Medium" pitchFamily="34" charset="0"/>
                <a:ea typeface="Geist Mono Medium" pitchFamily="34" charset="-122"/>
                <a:cs typeface="Geist Mono Medium" pitchFamily="34" charset="-120"/>
              </a:rPr>
              <a:t>SUGGESTION SIDE-FLOW</a:t>
            </a:r>
            <a:endParaRPr lang="en-US" sz="1100" dirty="0"/>
          </a:p>
        </p:txBody>
      </p:sp>
      <p:sp>
        <p:nvSpPr>
          <p:cNvPr id="8" name="Text 6"/>
          <p:cNvSpPr/>
          <p:nvPr/>
        </p:nvSpPr>
        <p:spPr>
          <a:xfrm>
            <a:off x="9017965" y="2951856"/>
            <a:ext cx="2154184" cy="243780"/>
          </a:xfrm>
          <a:prstGeom prst="rect">
            <a:avLst/>
          </a:prstGeom>
          <a:noFill/>
          <a:ln/>
        </p:spPr>
        <p:txBody>
          <a:bodyPr wrap="none" lIns="0" tIns="0" rIns="0" bIns="0" rtlCol="0" anchor="t"/>
          <a:lstStyle/>
          <a:p>
            <a:pPr marL="0" indent="0" algn="l">
              <a:lnSpc>
                <a:spcPct val="100000"/>
              </a:lnSpc>
              <a:buNone/>
            </a:pPr>
            <a:r>
              <a:rPr lang="en-US" sz="1600" dirty="0">
                <a:solidFill>
                  <a:srgbClr val="000000"/>
                </a:solidFill>
                <a:latin typeface="Geist SemiBold" pitchFamily="34" charset="0"/>
                <a:ea typeface="Geist SemiBold" pitchFamily="34" charset="-122"/>
                <a:cs typeface="Geist SemiBold" pitchFamily="34" charset="-120"/>
              </a:rPr>
              <a:t>User Types Prefix</a:t>
            </a:r>
            <a:endParaRPr lang="en-US" sz="1600" dirty="0"/>
          </a:p>
        </p:txBody>
      </p:sp>
      <p:sp>
        <p:nvSpPr>
          <p:cNvPr id="9" name="Text 7"/>
          <p:cNvSpPr/>
          <p:nvPr/>
        </p:nvSpPr>
        <p:spPr>
          <a:xfrm>
            <a:off x="9017965" y="3322637"/>
            <a:ext cx="2382778" cy="257770"/>
          </a:xfrm>
          <a:prstGeom prst="rect">
            <a:avLst/>
          </a:prstGeom>
          <a:noFill/>
          <a:ln/>
        </p:spPr>
        <p:txBody>
          <a:bodyPr wrap="none" lIns="0" tIns="0" rIns="0" bIns="0" rtlCol="0" anchor="t"/>
          <a:lstStyle/>
          <a:p>
            <a:pPr marL="0" indent="0" algn="l">
              <a:lnSpc>
                <a:spcPct val="121000"/>
              </a:lnSpc>
              <a:buNone/>
            </a:pPr>
            <a:r>
              <a:rPr lang="en-US" sz="1400" dirty="0">
                <a:solidFill>
                  <a:srgbClr val="000000"/>
                </a:solidFill>
                <a:latin typeface="Geist" pitchFamily="34" charset="0"/>
                <a:ea typeface="Geist" pitchFamily="34" charset="-122"/>
                <a:cs typeface="Geist" pitchFamily="34" charset="-120"/>
              </a:rPr>
              <a:t>↓</a:t>
            </a:r>
            <a:endParaRPr lang="en-US" sz="1400" dirty="0"/>
          </a:p>
        </p:txBody>
      </p:sp>
      <p:sp>
        <p:nvSpPr>
          <p:cNvPr id="10" name="Text 8"/>
          <p:cNvSpPr/>
          <p:nvPr/>
        </p:nvSpPr>
        <p:spPr>
          <a:xfrm>
            <a:off x="9017965" y="3739157"/>
            <a:ext cx="2154184" cy="243780"/>
          </a:xfrm>
          <a:prstGeom prst="rect">
            <a:avLst/>
          </a:prstGeom>
          <a:noFill/>
          <a:ln/>
        </p:spPr>
        <p:txBody>
          <a:bodyPr wrap="none" lIns="0" tIns="0" rIns="0" bIns="0" rtlCol="0" anchor="t"/>
          <a:lstStyle/>
          <a:p>
            <a:pPr marL="0" indent="0" algn="l">
              <a:lnSpc>
                <a:spcPct val="100000"/>
              </a:lnSpc>
              <a:buNone/>
            </a:pPr>
            <a:r>
              <a:rPr lang="en-US" sz="1600" dirty="0">
                <a:solidFill>
                  <a:srgbClr val="000000"/>
                </a:solidFill>
                <a:latin typeface="Geist SemiBold" pitchFamily="34" charset="0"/>
                <a:ea typeface="Geist SemiBold" pitchFamily="34" charset="-122"/>
                <a:cs typeface="Geist SemiBold" pitchFamily="34" charset="-120"/>
              </a:rPr>
              <a:t>Trie</a:t>
            </a:r>
            <a:endParaRPr lang="en-US" sz="1600" dirty="0"/>
          </a:p>
        </p:txBody>
      </p:sp>
      <p:sp>
        <p:nvSpPr>
          <p:cNvPr id="11" name="Text 9"/>
          <p:cNvSpPr/>
          <p:nvPr/>
        </p:nvSpPr>
        <p:spPr>
          <a:xfrm>
            <a:off x="9017965" y="4109938"/>
            <a:ext cx="2382778" cy="257770"/>
          </a:xfrm>
          <a:prstGeom prst="rect">
            <a:avLst/>
          </a:prstGeom>
          <a:noFill/>
          <a:ln/>
        </p:spPr>
        <p:txBody>
          <a:bodyPr wrap="none" lIns="0" tIns="0" rIns="0" bIns="0" rtlCol="0" anchor="t"/>
          <a:lstStyle/>
          <a:p>
            <a:pPr marL="0" indent="0" algn="l">
              <a:lnSpc>
                <a:spcPct val="121000"/>
              </a:lnSpc>
              <a:buNone/>
            </a:pPr>
            <a:r>
              <a:rPr lang="en-US" sz="1400" dirty="0">
                <a:solidFill>
                  <a:srgbClr val="000000"/>
                </a:solidFill>
                <a:latin typeface="Geist" pitchFamily="34" charset="0"/>
                <a:ea typeface="Geist" pitchFamily="34" charset="-122"/>
                <a:cs typeface="Geist" pitchFamily="34" charset="-120"/>
              </a:rPr>
              <a:t>↓</a:t>
            </a:r>
            <a:endParaRPr lang="en-US" sz="1400" dirty="0"/>
          </a:p>
        </p:txBody>
      </p:sp>
      <p:sp>
        <p:nvSpPr>
          <p:cNvPr id="12" name="Text 10"/>
          <p:cNvSpPr/>
          <p:nvPr/>
        </p:nvSpPr>
        <p:spPr>
          <a:xfrm>
            <a:off x="9017965" y="4526458"/>
            <a:ext cx="2154184" cy="487561"/>
          </a:xfrm>
          <a:prstGeom prst="rect">
            <a:avLst/>
          </a:prstGeom>
          <a:noFill/>
          <a:ln/>
        </p:spPr>
        <p:txBody>
          <a:bodyPr wrap="square" lIns="0" tIns="0" rIns="0" bIns="0" rtlCol="0" anchor="t">
            <a:normAutofit lnSpcReduction="10000"/>
          </a:bodyPr>
          <a:lstStyle/>
          <a:p>
            <a:pPr marL="0" indent="0" algn="l">
              <a:lnSpc>
                <a:spcPct val="100000"/>
              </a:lnSpc>
              <a:buNone/>
            </a:pPr>
            <a:r>
              <a:rPr lang="en-US" sz="1600" dirty="0">
                <a:solidFill>
                  <a:srgbClr val="000000"/>
                </a:solidFill>
                <a:latin typeface="Geist SemiBold" pitchFamily="34" charset="0"/>
                <a:ea typeface="Geist SemiBold" pitchFamily="34" charset="-122"/>
                <a:cs typeface="Geist SemiBold" pitchFamily="34" charset="-120"/>
              </a:rPr>
              <a:t>Matching Prefix Suggestions</a:t>
            </a:r>
            <a:endParaRPr lang="en-US" sz="1600" dirty="0"/>
          </a:p>
        </p:txBody>
      </p:sp>
      <p:sp>
        <p:nvSpPr>
          <p:cNvPr id="13" name="Text 11"/>
          <p:cNvSpPr/>
          <p:nvPr/>
        </p:nvSpPr>
        <p:spPr>
          <a:xfrm>
            <a:off x="11400743" y="6456561"/>
            <a:ext cx="790952" cy="193278"/>
          </a:xfrm>
          <a:prstGeom prst="rect">
            <a:avLst/>
          </a:prstGeom>
          <a:noFill/>
          <a:ln/>
        </p:spPr>
        <p:txBody>
          <a:bodyPr wrap="none" lIns="0" tIns="0" rIns="0" bIns="0" rtlCol="0" anchor="ctr"/>
          <a:lstStyle/>
          <a:p>
            <a:pPr marL="0" indent="0" algn="l">
              <a:lnSpc>
                <a:spcPct val="121000"/>
              </a:lnSpc>
              <a:buNone/>
            </a:pPr>
            <a:r>
              <a:rPr lang="en-US" sz="1050" kern="0" spc="84" dirty="0">
                <a:solidFill>
                  <a:srgbClr val="55656E"/>
                </a:solidFill>
                <a:latin typeface="Geist Mono" pitchFamily="34" charset="0"/>
                <a:ea typeface="Geist Mono" pitchFamily="34" charset="-122"/>
                <a:cs typeface="Geist Mono" pitchFamily="34" charset="-120"/>
              </a:rPr>
              <a:t>07</a:t>
            </a:r>
            <a:endParaRPr lang="en-US" sz="1050" dirty="0"/>
          </a:p>
        </p:txBody>
      </p:sp>
      <p:pic>
        <p:nvPicPr>
          <p:cNvPr id="14" name="Picture 13">
            <a:extLst>
              <a:ext uri="{FF2B5EF4-FFF2-40B4-BE49-F238E27FC236}">
                <a16:creationId xmlns:a16="http://schemas.microsoft.com/office/drawing/2014/main" id="{5DC093F9-738B-BF4B-0011-CEDCDEFC4979}"/>
              </a:ext>
            </a:extLst>
          </p:cNvPr>
          <p:cNvPicPr>
            <a:picLocks noChangeAspect="1"/>
          </p:cNvPicPr>
          <p:nvPr/>
        </p:nvPicPr>
        <p:blipFill>
          <a:blip r:embed="rId3"/>
          <a:stretch>
            <a:fillRect/>
          </a:stretch>
        </p:blipFill>
        <p:spPr>
          <a:xfrm>
            <a:off x="10635528" y="6497043"/>
            <a:ext cx="1530429" cy="32386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09585" y="1646238"/>
            <a:ext cx="10972526" cy="548580"/>
          </a:xfrm>
          <a:prstGeom prst="rect">
            <a:avLst/>
          </a:prstGeom>
          <a:noFill/>
          <a:ln/>
        </p:spPr>
        <p:txBody>
          <a:bodyPr wrap="none" lIns="0" tIns="0" rIns="0" bIns="0" rtlCol="0" anchor="t"/>
          <a:lstStyle/>
          <a:p>
            <a:pPr marL="0" indent="0" algn="l">
              <a:lnSpc>
                <a:spcPct val="90000"/>
              </a:lnSpc>
              <a:buNone/>
            </a:pPr>
            <a:r>
              <a:rPr lang="en-US" sz="4000" kern="0" spc="-100" dirty="0">
                <a:solidFill>
                  <a:srgbClr val="0F1E26"/>
                </a:solidFill>
                <a:latin typeface="Geist Medium" pitchFamily="34" charset="0"/>
                <a:ea typeface="Geist Medium" pitchFamily="34" charset="-122"/>
                <a:cs typeface="Geist Medium" pitchFamily="34" charset="-120"/>
              </a:rPr>
              <a:t>Conclusion</a:t>
            </a:r>
            <a:endParaRPr lang="en-US" sz="4000" dirty="0"/>
          </a:p>
        </p:txBody>
      </p:sp>
      <p:sp>
        <p:nvSpPr>
          <p:cNvPr id="3" name="Text 1"/>
          <p:cNvSpPr/>
          <p:nvPr/>
        </p:nvSpPr>
        <p:spPr>
          <a:xfrm>
            <a:off x="609585" y="2372617"/>
            <a:ext cx="4709102" cy="2196505"/>
          </a:xfrm>
          <a:prstGeom prst="rect">
            <a:avLst/>
          </a:prstGeom>
          <a:noFill/>
          <a:ln/>
        </p:spPr>
        <p:txBody>
          <a:bodyPr wrap="square" lIns="0" tIns="0" rIns="0" bIns="0" rtlCol="0" anchor="t">
            <a:noAutofit/>
          </a:bodyPr>
          <a:lstStyle/>
          <a:p>
            <a:pPr marL="0" indent="0" algn="l">
              <a:lnSpc>
                <a:spcPct val="121000"/>
              </a:lnSpc>
              <a:buNone/>
            </a:pPr>
            <a:r>
              <a:rPr lang="en-US" sz="1750" dirty="0">
                <a:solidFill>
                  <a:srgbClr val="2A3A43"/>
                </a:solidFill>
                <a:latin typeface="Geist" pitchFamily="34" charset="0"/>
                <a:ea typeface="Geist" pitchFamily="34" charset="-122"/>
                <a:cs typeface="Geist" pitchFamily="34" charset="-120"/>
              </a:rPr>
              <a:t>IndicSearch shows how </a:t>
            </a:r>
            <a:r>
              <a:rPr lang="en-US" sz="1750" b="1" dirty="0">
                <a:solidFill>
                  <a:srgbClr val="2A3A43"/>
                </a:solidFill>
                <a:latin typeface="Geist Bold" pitchFamily="34" charset="0"/>
                <a:ea typeface="Geist Bold" pitchFamily="34" charset="-122"/>
                <a:cs typeface="Geist Bold" pitchFamily="34" charset="-120"/>
              </a:rPr>
              <a:t>HashMap</a:t>
            </a:r>
            <a:r>
              <a:rPr lang="en-US" sz="1750" dirty="0">
                <a:solidFill>
                  <a:srgbClr val="2A3A43"/>
                </a:solidFill>
                <a:latin typeface="Geist" pitchFamily="34" charset="0"/>
                <a:ea typeface="Geist" pitchFamily="34" charset="-122"/>
                <a:cs typeface="Geist" pitchFamily="34" charset="-120"/>
              </a:rPr>
              <a:t>, </a:t>
            </a:r>
            <a:r>
              <a:rPr lang="en-US" sz="1750" b="1" dirty="0">
                <a:solidFill>
                  <a:srgbClr val="2A3A43"/>
                </a:solidFill>
                <a:latin typeface="Geist Bold" pitchFamily="34" charset="0"/>
                <a:ea typeface="Geist Bold" pitchFamily="34" charset="-122"/>
                <a:cs typeface="Geist Bold" pitchFamily="34" charset="-120"/>
              </a:rPr>
              <a:t>Inverted Index</a:t>
            </a:r>
            <a:r>
              <a:rPr lang="en-US" sz="1750" dirty="0">
                <a:solidFill>
                  <a:srgbClr val="2A3A43"/>
                </a:solidFill>
                <a:latin typeface="Geist" pitchFamily="34" charset="0"/>
                <a:ea typeface="Geist" pitchFamily="34" charset="-122"/>
                <a:cs typeface="Geist" pitchFamily="34" charset="-120"/>
              </a:rPr>
              <a:t>, </a:t>
            </a:r>
            <a:r>
              <a:rPr lang="en-US" sz="1750" b="1" dirty="0">
                <a:solidFill>
                  <a:srgbClr val="2A3A43"/>
                </a:solidFill>
                <a:latin typeface="Geist Bold" pitchFamily="34" charset="0"/>
                <a:ea typeface="Geist Bold" pitchFamily="34" charset="-122"/>
                <a:cs typeface="Geist Bold" pitchFamily="34" charset="-120"/>
              </a:rPr>
              <a:t>Trie</a:t>
            </a:r>
            <a:r>
              <a:rPr lang="en-US" sz="1750" dirty="0">
                <a:solidFill>
                  <a:srgbClr val="2A3A43"/>
                </a:solidFill>
                <a:latin typeface="Geist" pitchFamily="34" charset="0"/>
                <a:ea typeface="Geist" pitchFamily="34" charset="-122"/>
                <a:cs typeface="Geist" pitchFamily="34" charset="-120"/>
              </a:rPr>
              <a:t>, and </a:t>
            </a:r>
            <a:r>
              <a:rPr lang="en-US" sz="1750" b="1" dirty="0">
                <a:solidFill>
                  <a:srgbClr val="2A3A43"/>
                </a:solidFill>
                <a:latin typeface="Geist Bold" pitchFamily="34" charset="0"/>
                <a:ea typeface="Geist Bold" pitchFamily="34" charset="-122"/>
                <a:cs typeface="Geist Bold" pitchFamily="34" charset="-120"/>
              </a:rPr>
              <a:t>Merge Sort</a:t>
            </a:r>
            <a:r>
              <a:rPr lang="en-US" sz="1750" dirty="0">
                <a:solidFill>
                  <a:srgbClr val="2A3A43"/>
                </a:solidFill>
                <a:latin typeface="Geist" pitchFamily="34" charset="0"/>
                <a:ea typeface="Geist" pitchFamily="34" charset="-122"/>
                <a:cs typeface="Geist" pitchFamily="34" charset="-120"/>
              </a:rPr>
              <a:t> can support structured storage, efficient keyword retrieval, prefix suggestions, and frequency-based ranking over real Wikipedia data accessed through an API.</a:t>
            </a:r>
            <a:endParaRPr lang="en-US" sz="1750" dirty="0"/>
          </a:p>
        </p:txBody>
      </p:sp>
      <p:sp>
        <p:nvSpPr>
          <p:cNvPr id="4" name="Text 2"/>
          <p:cNvSpPr/>
          <p:nvPr/>
        </p:nvSpPr>
        <p:spPr>
          <a:xfrm>
            <a:off x="5780546" y="1687364"/>
            <a:ext cx="5806334" cy="466328"/>
          </a:xfrm>
          <a:prstGeom prst="rect">
            <a:avLst/>
          </a:prstGeom>
          <a:noFill/>
          <a:ln/>
        </p:spPr>
        <p:txBody>
          <a:bodyPr wrap="none" lIns="0" tIns="0" rIns="0" bIns="0" rtlCol="0" anchor="t"/>
          <a:lstStyle/>
          <a:p>
            <a:pPr marL="0" indent="0" algn="l">
              <a:lnSpc>
                <a:spcPct val="90000"/>
              </a:lnSpc>
              <a:buNone/>
            </a:pPr>
            <a:r>
              <a:rPr lang="en-US" sz="3400" kern="0" spc="-85" dirty="0">
                <a:solidFill>
                  <a:srgbClr val="0F1E26"/>
                </a:solidFill>
                <a:latin typeface="Geist Medium" pitchFamily="34" charset="0"/>
                <a:ea typeface="Geist Medium" pitchFamily="34" charset="-122"/>
                <a:cs typeface="Geist Medium" pitchFamily="34" charset="-120"/>
              </a:rPr>
              <a:t>Future Scope</a:t>
            </a:r>
            <a:endParaRPr lang="en-US" sz="3400" dirty="0"/>
          </a:p>
        </p:txBody>
      </p:sp>
      <p:sp>
        <p:nvSpPr>
          <p:cNvPr id="5" name="Text 3"/>
          <p:cNvSpPr/>
          <p:nvPr/>
        </p:nvSpPr>
        <p:spPr>
          <a:xfrm>
            <a:off x="5775677" y="2390548"/>
            <a:ext cx="5806434" cy="1859266"/>
          </a:xfrm>
          <a:prstGeom prst="rect">
            <a:avLst/>
          </a:prstGeom>
          <a:noFill/>
          <a:ln/>
        </p:spPr>
        <p:txBody>
          <a:bodyPr wrap="square" lIns="0" tIns="0" rIns="0" bIns="0" rtlCol="0" anchor="t">
            <a:normAutofit/>
          </a:bodyPr>
          <a:lstStyle/>
          <a:p>
            <a:pPr marL="284480" indent="-284480" algn="l">
              <a:lnSpc>
                <a:spcPct val="121000"/>
              </a:lnSpc>
              <a:buSzPct val="100000"/>
              <a:buChar char="•"/>
            </a:pPr>
            <a:r>
              <a:rPr lang="en-US" sz="1750" dirty="0">
                <a:solidFill>
                  <a:srgbClr val="2A3A43"/>
                </a:solidFill>
                <a:latin typeface="Geist" pitchFamily="34" charset="0"/>
                <a:ea typeface="Geist" pitchFamily="34" charset="-122"/>
                <a:cs typeface="Geist" pitchFamily="34" charset="-120"/>
              </a:rPr>
              <a:t>Support a larger locally indexed multilingual corpus.</a:t>
            </a:r>
            <a:endParaRPr lang="en-US" sz="1750" dirty="0"/>
          </a:p>
          <a:p>
            <a:pPr marL="284480" indent="-284480" algn="l">
              <a:lnSpc>
                <a:spcPct val="121000"/>
              </a:lnSpc>
              <a:buSzPct val="100000"/>
              <a:buChar char="•"/>
            </a:pPr>
            <a:r>
              <a:rPr lang="en-US" sz="1750" dirty="0">
                <a:solidFill>
                  <a:srgbClr val="2A3A43"/>
                </a:solidFill>
                <a:latin typeface="Geist" pitchFamily="34" charset="0"/>
                <a:ea typeface="Geist" pitchFamily="34" charset="-122"/>
                <a:cs typeface="Geist" pitchFamily="34" charset="-120"/>
              </a:rPr>
              <a:t>Improve ranking with additional relevance factors.</a:t>
            </a:r>
            <a:endParaRPr lang="en-US" sz="1750" dirty="0"/>
          </a:p>
          <a:p>
            <a:pPr marL="284480" indent="-284480" algn="l">
              <a:lnSpc>
                <a:spcPct val="121000"/>
              </a:lnSpc>
              <a:buSzPct val="100000"/>
              <a:buChar char="•"/>
            </a:pPr>
            <a:r>
              <a:rPr lang="en-US" sz="1750" dirty="0">
                <a:solidFill>
                  <a:srgbClr val="2A3A43"/>
                </a:solidFill>
                <a:latin typeface="Geist" pitchFamily="34" charset="0"/>
                <a:ea typeface="Geist" pitchFamily="34" charset="-122"/>
                <a:cs typeface="Geist" pitchFamily="34" charset="-120"/>
              </a:rPr>
              <a:t>Add more Indian languages.</a:t>
            </a:r>
            <a:endParaRPr lang="en-US" sz="1750" dirty="0"/>
          </a:p>
          <a:p>
            <a:pPr marL="284480" indent="-284480" algn="l">
              <a:lnSpc>
                <a:spcPct val="121000"/>
              </a:lnSpc>
              <a:buSzPct val="100000"/>
              <a:buChar char="•"/>
            </a:pPr>
            <a:r>
              <a:rPr lang="en-US" sz="1750" dirty="0">
                <a:solidFill>
                  <a:srgbClr val="2A3A43"/>
                </a:solidFill>
                <a:latin typeface="Geist" pitchFamily="34" charset="0"/>
                <a:ea typeface="Geist" pitchFamily="34" charset="-122"/>
                <a:cs typeface="Geist" pitchFamily="34" charset="-120"/>
              </a:rPr>
              <a:t>Improve autocomplete and query understanding.</a:t>
            </a:r>
            <a:endParaRPr lang="en-US" sz="1750" dirty="0"/>
          </a:p>
          <a:p>
            <a:pPr marL="284480" indent="-284480" algn="l">
              <a:lnSpc>
                <a:spcPct val="121000"/>
              </a:lnSpc>
              <a:buSzPct val="100000"/>
              <a:buChar char="•"/>
            </a:pPr>
            <a:r>
              <a:rPr lang="en-US" sz="1750" dirty="0">
                <a:solidFill>
                  <a:srgbClr val="2A3A43"/>
                </a:solidFill>
                <a:latin typeface="Geist" pitchFamily="34" charset="0"/>
                <a:ea typeface="Geist" pitchFamily="34" charset="-122"/>
                <a:cs typeface="Geist" pitchFamily="34" charset="-120"/>
              </a:rPr>
              <a:t>Introduce caching for faster repeated searches.</a:t>
            </a:r>
            <a:endParaRPr lang="en-US" sz="1750" dirty="0"/>
          </a:p>
        </p:txBody>
      </p:sp>
      <p:sp>
        <p:nvSpPr>
          <p:cNvPr id="21" name="Shape 19"/>
          <p:cNvSpPr/>
          <p:nvPr/>
        </p:nvSpPr>
        <p:spPr>
          <a:xfrm>
            <a:off x="5517858" y="1309704"/>
            <a:ext cx="78733" cy="3353479"/>
          </a:xfrm>
          <a:prstGeom prst="rect">
            <a:avLst/>
          </a:prstGeom>
          <a:solidFill>
            <a:srgbClr val="B7C3C9"/>
          </a:solidFill>
          <a:ln/>
        </p:spPr>
      </p:sp>
      <p:sp>
        <p:nvSpPr>
          <p:cNvPr id="22" name="Text 20"/>
          <p:cNvSpPr/>
          <p:nvPr/>
        </p:nvSpPr>
        <p:spPr>
          <a:xfrm>
            <a:off x="11400743" y="6456561"/>
            <a:ext cx="790952" cy="193278"/>
          </a:xfrm>
          <a:prstGeom prst="rect">
            <a:avLst/>
          </a:prstGeom>
          <a:noFill/>
          <a:ln/>
        </p:spPr>
        <p:txBody>
          <a:bodyPr wrap="none" lIns="0" tIns="0" rIns="0" bIns="0" rtlCol="0" anchor="ctr"/>
          <a:lstStyle/>
          <a:p>
            <a:pPr marL="0" indent="0" algn="l">
              <a:lnSpc>
                <a:spcPct val="121000"/>
              </a:lnSpc>
              <a:buNone/>
            </a:pPr>
            <a:r>
              <a:rPr lang="en-US" sz="1050" kern="0" spc="84" dirty="0">
                <a:solidFill>
                  <a:srgbClr val="55656E"/>
                </a:solidFill>
                <a:latin typeface="Geist Mono" pitchFamily="34" charset="0"/>
                <a:ea typeface="Geist Mono" pitchFamily="34" charset="-122"/>
                <a:cs typeface="Geist Mono" pitchFamily="34" charset="-120"/>
              </a:rPr>
              <a:t>08</a:t>
            </a:r>
            <a:endParaRPr lang="en-US" sz="1050" dirty="0"/>
          </a:p>
        </p:txBody>
      </p:sp>
      <p:pic>
        <p:nvPicPr>
          <p:cNvPr id="23" name="Picture 22">
            <a:extLst>
              <a:ext uri="{FF2B5EF4-FFF2-40B4-BE49-F238E27FC236}">
                <a16:creationId xmlns:a16="http://schemas.microsoft.com/office/drawing/2014/main" id="{4E8E19AD-E18C-3A7C-CBA8-0232B8388F68}"/>
              </a:ext>
            </a:extLst>
          </p:cNvPr>
          <p:cNvPicPr>
            <a:picLocks noChangeAspect="1"/>
          </p:cNvPicPr>
          <p:nvPr/>
        </p:nvPicPr>
        <p:blipFill>
          <a:blip r:embed="rId3"/>
          <a:stretch>
            <a:fillRect/>
          </a:stretch>
        </p:blipFill>
        <p:spPr>
          <a:xfrm>
            <a:off x="10635528" y="6497043"/>
            <a:ext cx="1530429" cy="32386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70BA20-2A2C-C127-09E8-61FBEBB7C412}"/>
              </a:ext>
            </a:extLst>
          </p:cNvPr>
          <p:cNvSpPr txBox="1"/>
          <p:nvPr/>
        </p:nvSpPr>
        <p:spPr>
          <a:xfrm>
            <a:off x="4465469" y="2967335"/>
            <a:ext cx="3773010" cy="923330"/>
          </a:xfrm>
          <a:prstGeom prst="rect">
            <a:avLst/>
          </a:prstGeom>
          <a:noFill/>
        </p:spPr>
        <p:txBody>
          <a:bodyPr wrap="square" rtlCol="0">
            <a:spAutoFit/>
          </a:bodyPr>
          <a:lstStyle/>
          <a:p>
            <a:r>
              <a:rPr lang="en-GB" sz="5400" dirty="0"/>
              <a:t>THANK YOU</a:t>
            </a:r>
          </a:p>
        </p:txBody>
      </p:sp>
      <p:pic>
        <p:nvPicPr>
          <p:cNvPr id="3" name="Picture 2">
            <a:extLst>
              <a:ext uri="{FF2B5EF4-FFF2-40B4-BE49-F238E27FC236}">
                <a16:creationId xmlns:a16="http://schemas.microsoft.com/office/drawing/2014/main" id="{F53FADFF-BA4A-6029-E578-371A562EA589}"/>
              </a:ext>
            </a:extLst>
          </p:cNvPr>
          <p:cNvPicPr>
            <a:picLocks noChangeAspect="1"/>
          </p:cNvPicPr>
          <p:nvPr/>
        </p:nvPicPr>
        <p:blipFill>
          <a:blip r:embed="rId2"/>
          <a:stretch>
            <a:fillRect/>
          </a:stretch>
        </p:blipFill>
        <p:spPr>
          <a:xfrm>
            <a:off x="10635528" y="6497043"/>
            <a:ext cx="1530429" cy="323867"/>
          </a:xfrm>
          <a:prstGeom prst="rect">
            <a:avLst/>
          </a:prstGeom>
        </p:spPr>
      </p:pic>
    </p:spTree>
    <p:extLst>
      <p:ext uri="{BB962C8B-B14F-4D97-AF65-F5344CB8AC3E}">
        <p14:creationId xmlns:p14="http://schemas.microsoft.com/office/powerpoint/2010/main" val="23057254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121</TotalTime>
  <Words>1141</Words>
  <Application>Microsoft Office PowerPoint</Application>
  <PresentationFormat>Widescreen</PresentationFormat>
  <Paragraphs>183</Paragraphs>
  <Slides>9</Slides>
  <Notes>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Geist Bold</vt:lpstr>
      <vt:lpstr>Consolas</vt:lpstr>
      <vt:lpstr>Geist Medium</vt:lpstr>
      <vt:lpstr>Geist Mono</vt:lpstr>
      <vt:lpstr>Geist Mono Medium</vt:lpstr>
      <vt:lpstr>Geist</vt:lpstr>
      <vt:lpstr>Geist SemiBold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Aswitha Patel</cp:lastModifiedBy>
  <cp:revision>3</cp:revision>
  <dcterms:created xsi:type="dcterms:W3CDTF">2026-09-29T06:24:24Z</dcterms:created>
  <dcterms:modified xsi:type="dcterms:W3CDTF">2026-10-01T06:25:20Z</dcterms:modified>
</cp:coreProperties>
</file>